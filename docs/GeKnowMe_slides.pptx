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Lst>
  <p:notesMasterIdLst>
    <p:notesMasterId r:id="rId4"/>
  </p:notesMasterIdLst>
  <p:sldIdLst>
    <p:sldId id="256" r:id="rId5"/>
    <p:sldId id="257" r:id="rId6"/>
    <p:sldId id="258" r:id="rId7"/>
    <p:sldId id="260" r:id="rId9"/>
    <p:sldId id="261" r:id="rId10"/>
    <p:sldId id="263" r:id="rId12"/>
    <p:sldId id="264" r:id="rId13"/>
    <p:sldId id="265" r:id="rId14"/>
    <p:sldId id="266" r:id="rId15"/>
    <p:sldId id="268" r:id="rId17"/>
    <p:sldId id="269" r:id="rId18"/>
  </p:sldIdLst>
  <p:sldSz cy="6858000" cx="12192000"/>
  <p:notesSz cx="6858000" cy="12192000"/>
  <p:embeddedFontLst>
    <p:embeddedFont>
      <p:font typeface="Nunito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Sans-bold.fntdata"/><Relationship Id="rId22" Type="http://schemas.openxmlformats.org/officeDocument/2006/relationships/font" Target="fonts/NunitoSans-boldItalic.fntdata"/><Relationship Id="rId10" Type="http://schemas.openxmlformats.org/officeDocument/2006/relationships/slide" Target="slides/slide6.xml"/><Relationship Id="rId21" Type="http://schemas.openxmlformats.org/officeDocument/2006/relationships/font" Target="fonts/NunitoSans-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5" Type="http://schemas.openxmlformats.org/officeDocument/2006/relationships/slide" Target="slides/slide1.xml"/><Relationship Id="rId19" Type="http://schemas.openxmlformats.org/officeDocument/2006/relationships/font" Target="fonts/NunitoSans-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indent="-228600" lvl="1" marL="9144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2pPr>
            <a:lvl3pPr indent="-228600" lvl="2" marL="13716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3pPr>
            <a:lvl4pPr indent="-228600" lvl="3" marL="18288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4pPr>
            <a:lvl5pPr indent="-228600" lvl="4" marL="22860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5pPr>
            <a:lvl6pPr indent="-228600" lvl="5" marL="27432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6pPr>
            <a:lvl7pPr indent="-228600" lvl="6" marL="32004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7pPr>
            <a:lvl8pPr indent="-228600" lvl="7" marL="36576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8pPr>
            <a:lvl9pPr indent="-228600" lvl="8" marL="41148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Nunito Sans"/>
                <a:ea typeface="Nunito Sans"/>
                <a:cs typeface="Nunito Sans"/>
                <a:sym typeface="Nunito Sans"/>
              </a:rPr>
              <a:t>‹#›</a:t>
            </a:fld>
            <a:endParaRPr b="0" i="0" sz="1200" u="none" cap="none" strike="noStrike">
              <a:solidFill>
                <a:schemeClr val="dk1"/>
              </a:solidFill>
              <a:latin typeface="Nunito Sans"/>
              <a:ea typeface="Nunito Sans"/>
              <a:cs typeface="Nunito Sans"/>
              <a:sym typeface="Nunito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we're [names], and this is Geknowme. It gives clinicians one place to find out whether a genetic variant matters for their patient, and which clinical trials are studying it.</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Clinical trial information is extremely decentralized. Trials, papers and variant records each live in their own database, and they don't even agree on what to call a mutation. So it's hard for doctors to learn about ongoing trials quickly, and for many of these diseases speed is key to treatment. Geknowme gives them one central place, which in turn improves patient care.</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main user is the clinician. A PCR test is run on a patient with a specific disease, and an unfamiliar mutation comes up. The clinician wants to know two things: is this variant a meaningful marker, meaning is it relevant to the disease they're treating, and if so, what's the status of clinical trials researching it. Variants are identified by their rs number, and that's all our tool needs. For a technical audience: for an initial landscape investigation, this tool cuts the overhead time of looking over clinical trials. That's especially useful for small biotech and diagnostics companies, which often don't have the resources for full genome analysis. That's our secondary user. Bigger firms can also use it for a quick preliminary scope of the competition before they commit to making a drug.</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what one rs number gets you: the variant and every name it goes by, the trial landscape, how other trials screen patients for it, the best papers, and an AI treatment summary. Everything links back to its source.</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CFTR and BRAF are well-known variants, so we use them to show that our pipeline is trustworthy. For BRAF V600E it surfaces encorafenib, dabrafenib and trametinib and the approved combinations. For cystic fibrosis, the top treatment is Trikafta. That's what a specialist would say, and every line is cited. And the AI part can't just make things up. It only sees the sources we picked, it has to quote them word for word, and our code checks every row: is the source real, is the quote really in it, do the numbers match, and does the evidence level fit. Across our four demo variants, 41 of 43 rows passed every check and none cited anything invented.</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lesser-known variants. SNCA A53T causes an inherited form of Parkinson's and Lewy body disease. No trial names the variant itself, but 14 trials for the disease are open right now, including a Phase 2 study a patient could be referred to. And 11 of 12 treatments the AI found were only tested in the lab, so the doctor sees that targeted treatment is still preclinical.</a:t>
            </a:r>
            <a:endParaRPr/>
          </a:p>
        </p:txBody>
      </p:sp>
      <p:sp>
        <p:nvSpPr>
          <p:cNvPr id="169" name="Google Shape;1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COMT V158M is the opposite. ClinVar calls it benign, and no phased drug trial is open. So the doctor learns in a minute that this variant probably isn't the explanation, and there's no trial to enroll in. That answer is just as valuable.</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does this matter? Because it shows the phase of the current trials. A recruiting Phase 2 or 3 trial means the patient could potentially enroll. A Phase 1 trial is an option when standard care has run out. Completed trials give findings the doctor can use to look over the options and take action. And if there's nothing but observational studies, there's nothing to try yet.</a:t>
            </a:r>
            <a:endParaRPr/>
          </a:p>
        </p:txBody>
      </p:sp>
      <p:sp>
        <p:nvSpPr>
          <p:cNvPr id="219" name="Google Shape;21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are resources focused on the clinical trial space, like Citeline, Medidata, Veeva and IQVIA, but they're centred on getting drugs through the process more successfully. They're built for sponsors. We're working for the professionals and patients: helping them understand the current clinical trial landscape so they can act. That's an unmet need.</a:t>
            </a:r>
            <a:endParaRPr/>
          </a:p>
        </p:txBody>
      </p:sp>
      <p:sp>
        <p:nvSpPr>
          <p:cNvPr id="243" name="Google Shape;24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Quickly, the stack: a Python FastAPI backend, a React and TypeScript frontend, and Google Gemini for the summary. All the data comes from free public sources: MyVariant, ClinVar, NCBI's LitVar, PubMed and ClinicalTrials.gov. Papers are ranked with the Oxford levels of evidence, and cancer rows use the ESMO ESCAT scale. It's open source under MIT, with 180 automated tests.</a:t>
            </a:r>
            <a:endParaRPr/>
          </a:p>
        </p:txBody>
      </p:sp>
      <p:sp>
        <p:nvSpPr>
          <p:cNvPr id="285" name="Google Shape;28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You can try Geknowme at the link, and the code is on GitHub.</a:t>
            </a:r>
            <a:endParaRPr/>
          </a:p>
        </p:txBody>
      </p:sp>
      <p:sp>
        <p:nvSpPr>
          <p:cNvPr id="313" name="Google Shape;31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1">
  <p:cSld name="Slide background 1">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1016000" y="1229320"/>
            <a:ext cx="10160000" cy="42669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F78B0"/>
              </a:buClr>
              <a:buSzPts val="3000"/>
              <a:buFont typeface="Nunito Sans"/>
              <a:buNone/>
              <a:defRPr sz="3000">
                <a:solidFill>
                  <a:srgbClr val="2F78B0"/>
                </a:solidFill>
                <a:latin typeface="Nunito Sans"/>
                <a:ea typeface="Nunito Sans"/>
                <a:cs typeface="Nunito Sans"/>
                <a:sym typeface="Nuni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1016000" y="1960811"/>
            <a:ext cx="10363200" cy="408438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41413"/>
              </a:buClr>
              <a:buSzPts val="1600"/>
              <a:buNone/>
              <a:defRPr sz="1600">
                <a:solidFill>
                  <a:srgbClr val="141413"/>
                </a:solidFill>
                <a:latin typeface="Nunito Sans"/>
                <a:ea typeface="Nunito Sans"/>
                <a:cs typeface="Nunito Sans"/>
                <a:sym typeface="Nunito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1016000" y="1229320"/>
            <a:ext cx="10160000" cy="42669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F78B0"/>
              </a:buClr>
              <a:buSzPts val="3000"/>
              <a:buFont typeface="Nunito Sans"/>
              <a:buNone/>
              <a:defRPr sz="3000">
                <a:solidFill>
                  <a:srgbClr val="2F78B0"/>
                </a:solidFill>
                <a:latin typeface="Nunito Sans"/>
                <a:ea typeface="Nunito Sans"/>
                <a:cs typeface="Nunito Sans"/>
                <a:sym typeface="Nuni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1016000" y="1960811"/>
            <a:ext cx="10363200" cy="408438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41413"/>
              </a:buClr>
              <a:buSzPts val="1600"/>
              <a:buNone/>
              <a:defRPr sz="1600">
                <a:solidFill>
                  <a:srgbClr val="141413"/>
                </a:solidFill>
                <a:latin typeface="Nunito Sans"/>
                <a:ea typeface="Nunito Sans"/>
                <a:cs typeface="Nunito Sans"/>
                <a:sym typeface="Nunito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016000" y="1229320"/>
            <a:ext cx="10160000" cy="42669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2F78B0"/>
              </a:buClr>
              <a:buSzPts val="3000"/>
              <a:buFont typeface="Nunito Sans"/>
              <a:buNone/>
              <a:defRPr b="0" i="0" sz="3000" u="none" cap="none" strike="noStrike">
                <a:solidFill>
                  <a:srgbClr val="2F78B0"/>
                </a:solidFill>
                <a:latin typeface="Nunito Sans"/>
                <a:ea typeface="Nunito Sans"/>
                <a:cs typeface="Nunito Sans"/>
                <a:sym typeface="Nuni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016000" y="1960811"/>
            <a:ext cx="10363200" cy="408438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41413"/>
              </a:buClr>
              <a:buSzPts val="1600"/>
              <a:buFont typeface="Arial"/>
              <a:buNone/>
              <a:defRPr b="0" i="0" sz="1600" u="none" cap="none" strike="noStrike">
                <a:solidFill>
                  <a:srgbClr val="141413"/>
                </a:solidFill>
                <a:latin typeface="Nunito Sans"/>
                <a:ea typeface="Nunito Sans"/>
                <a:cs typeface="Nunito Sans"/>
                <a:sym typeface="Nunito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Nunito Sans"/>
                <a:ea typeface="Nunito Sans"/>
                <a:cs typeface="Nunito Sans"/>
                <a:sym typeface="Nunito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Nunito Sans"/>
                <a:ea typeface="Nunito Sans"/>
                <a:cs typeface="Nunito Sans"/>
                <a:sym typeface="Nuni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pic>
        <p:nvPicPr>
          <p:cNvPr descr="preencoded.png" id="24" name="Google Shape;24;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 name="Google Shape;25;p5"/>
          <p:cNvSpPr/>
          <p:nvPr/>
        </p:nvSpPr>
        <p:spPr>
          <a:xfrm>
            <a:off x="812800" y="1859459"/>
            <a:ext cx="70637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HACKRU 2026</a:t>
            </a:r>
            <a:endParaRPr b="0" i="0" sz="1200" u="none" cap="none" strike="noStrike">
              <a:solidFill>
                <a:schemeClr val="dk1"/>
              </a:solidFill>
              <a:latin typeface="Nunito Sans"/>
              <a:ea typeface="Nunito Sans"/>
              <a:cs typeface="Nunito Sans"/>
              <a:sym typeface="Nunito Sans"/>
            </a:endParaRPr>
          </a:p>
        </p:txBody>
      </p:sp>
      <p:sp>
        <p:nvSpPr>
          <p:cNvPr id="26" name="Google Shape;26;p5"/>
          <p:cNvSpPr txBox="1"/>
          <p:nvPr>
            <p:ph type="title"/>
          </p:nvPr>
        </p:nvSpPr>
        <p:spPr>
          <a:xfrm>
            <a:off x="812800" y="2326779"/>
            <a:ext cx="7063740" cy="1342132"/>
          </a:xfrm>
          <a:prstGeom prst="rect">
            <a:avLst/>
          </a:prstGeom>
          <a:noFill/>
          <a:ln>
            <a:noFill/>
          </a:ln>
        </p:spPr>
        <p:txBody>
          <a:bodyPr anchorCtr="0" anchor="t" bIns="0" lIns="0" spcFirstLastPara="1" rIns="0" wrap="square" tIns="0">
            <a:normAutofit fontScale="90000"/>
          </a:bodyPr>
          <a:lstStyle/>
          <a:p>
            <a:pPr indent="0" lvl="0" marL="0" rtl="0" algn="l">
              <a:lnSpc>
                <a:spcPct val="108000"/>
              </a:lnSpc>
              <a:spcBef>
                <a:spcPts val="0"/>
              </a:spcBef>
              <a:spcAft>
                <a:spcPts val="0"/>
              </a:spcAft>
              <a:buNone/>
            </a:pPr>
            <a:r>
              <a:rPr lang="en-US" sz="4800"/>
              <a:t>Every</a:t>
            </a:r>
            <a:r>
              <a:rPr b="1" lang="en-US" sz="4800"/>
              <a:t> Paper </a:t>
            </a:r>
            <a:r>
              <a:rPr lang="en-US" sz="4800"/>
              <a:t>and</a:t>
            </a:r>
            <a:r>
              <a:rPr b="1" lang="en-US" sz="4800"/>
              <a:t> Trial, </a:t>
            </a:r>
            <a:endParaRPr b="1" sz="4800"/>
          </a:p>
          <a:p>
            <a:pPr indent="0" lvl="0" marL="0" rtl="0" algn="l">
              <a:lnSpc>
                <a:spcPct val="108000"/>
              </a:lnSpc>
              <a:spcBef>
                <a:spcPts val="0"/>
              </a:spcBef>
              <a:spcAft>
                <a:spcPts val="0"/>
              </a:spcAft>
              <a:buNone/>
            </a:pPr>
            <a:r>
              <a:rPr i="1" lang="en-US" sz="4800"/>
              <a:t>One Search Away</a:t>
            </a:r>
            <a:endParaRPr i="1" sz="4800"/>
          </a:p>
          <a:p>
            <a:pPr indent="0" lvl="0" marL="0" rtl="0" algn="l">
              <a:lnSpc>
                <a:spcPct val="108000"/>
              </a:lnSpc>
              <a:spcBef>
                <a:spcPts val="0"/>
              </a:spcBef>
              <a:spcAft>
                <a:spcPts val="0"/>
              </a:spcAft>
              <a:buNone/>
            </a:pPr>
            <a:r>
              <a:t/>
            </a:r>
            <a:endParaRPr b="1" sz="4800"/>
          </a:p>
          <a:p>
            <a:pPr indent="0" lvl="0" marL="0" rtl="0" algn="l">
              <a:lnSpc>
                <a:spcPct val="108000"/>
              </a:lnSpc>
              <a:spcBef>
                <a:spcPts val="0"/>
              </a:spcBef>
              <a:spcAft>
                <a:spcPts val="0"/>
              </a:spcAft>
              <a:buClr>
                <a:srgbClr val="2F78B0"/>
              </a:buClr>
              <a:buSzPct val="100000"/>
              <a:buFont typeface="Nunito Sans"/>
              <a:buNone/>
            </a:pPr>
            <a:r>
              <a:t/>
            </a:r>
            <a:endParaRPr b="1" sz="4800"/>
          </a:p>
        </p:txBody>
      </p:sp>
      <p:sp>
        <p:nvSpPr>
          <p:cNvPr id="27" name="Google Shape;27;p5"/>
          <p:cNvSpPr/>
          <p:nvPr/>
        </p:nvSpPr>
        <p:spPr>
          <a:xfrm>
            <a:off x="812800" y="3897511"/>
            <a:ext cx="7063740" cy="6146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600"/>
              <a:buFont typeface="Nunito Sans"/>
              <a:buNone/>
            </a:pPr>
            <a:r>
              <a:rPr b="0" i="0" lang="en-US" sz="1600" u="none" cap="none" strike="noStrike">
                <a:solidFill>
                  <a:srgbClr val="5B6670"/>
                </a:solidFill>
                <a:latin typeface="Nunito Sans"/>
                <a:ea typeface="Nunito Sans"/>
                <a:cs typeface="Nunito Sans"/>
                <a:sym typeface="Nunito Sans"/>
              </a:rPr>
              <a:t>One place to see whether a genetic variant matters, and which clinical trials are studying it.</a:t>
            </a:r>
            <a:endParaRPr b="0" i="0" sz="1600" u="none" cap="none" strike="noStrike">
              <a:solidFill>
                <a:schemeClr val="dk1"/>
              </a:solidFill>
              <a:latin typeface="Nunito Sans"/>
              <a:ea typeface="Nunito Sans"/>
              <a:cs typeface="Nunito Sans"/>
              <a:sym typeface="Nunito Sans"/>
            </a:endParaRPr>
          </a:p>
        </p:txBody>
      </p:sp>
      <p:sp>
        <p:nvSpPr>
          <p:cNvPr id="28" name="Google Shape;28;p5"/>
          <p:cNvSpPr/>
          <p:nvPr/>
        </p:nvSpPr>
        <p:spPr>
          <a:xfrm>
            <a:off x="812800" y="4740771"/>
            <a:ext cx="706374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8A949D"/>
              </a:buClr>
              <a:buSzPts val="1400"/>
              <a:buFont typeface="Nunito Sans"/>
              <a:buNone/>
            </a:pPr>
            <a:r>
              <a:rPr lang="en-US">
                <a:solidFill>
                  <a:srgbClr val="8A949D"/>
                </a:solidFill>
                <a:latin typeface="Nunito Sans"/>
                <a:ea typeface="Nunito Sans"/>
                <a:cs typeface="Nunito Sans"/>
                <a:sym typeface="Nunito Sans"/>
              </a:rPr>
              <a:t>Lucca Sousa, Matheus Sousa</a:t>
            </a:r>
            <a:endParaRPr b="0" i="0" sz="1400" u="none" cap="none" strike="noStrike">
              <a:solidFill>
                <a:schemeClr val="dk1"/>
              </a:solidFill>
              <a:latin typeface="Nunito Sans"/>
              <a:ea typeface="Nunito Sans"/>
              <a:cs typeface="Nunito Sans"/>
              <a:sym typeface="Nunito Sans"/>
            </a:endParaRPr>
          </a:p>
        </p:txBody>
      </p:sp>
      <p:sp>
        <p:nvSpPr>
          <p:cNvPr id="29" name="Google Shape;29;p5"/>
          <p:cNvSpPr/>
          <p:nvPr/>
        </p:nvSpPr>
        <p:spPr>
          <a:xfrm>
            <a:off x="812800" y="5857280"/>
            <a:ext cx="5886450"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2200"/>
              <a:buFont typeface="Nunito Sans"/>
              <a:buNone/>
            </a:pPr>
            <a:r>
              <a:rPr b="1" i="0" lang="en-US" sz="2200" u="none" cap="none" strike="noStrike">
                <a:solidFill>
                  <a:srgbClr val="1E2A35"/>
                </a:solidFill>
                <a:latin typeface="Nunito Sans"/>
                <a:ea typeface="Nunito Sans"/>
                <a:cs typeface="Nunito Sans"/>
                <a:sym typeface="Nunito Sans"/>
              </a:rPr>
              <a:t>GeKnowMe</a:t>
            </a:r>
            <a:endParaRPr b="0" i="0" sz="2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preencoded.png" id="35" name="Google Shape;35;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 name="Google Shape;36;p6"/>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THE PROBLEM</a:t>
            </a:r>
            <a:endParaRPr b="0" i="0" sz="1200" u="none" cap="none" strike="noStrike">
              <a:solidFill>
                <a:schemeClr val="dk1"/>
              </a:solidFill>
              <a:latin typeface="Nunito Sans"/>
              <a:ea typeface="Nunito Sans"/>
              <a:cs typeface="Nunito Sans"/>
              <a:sym typeface="Nunito Sans"/>
            </a:endParaRPr>
          </a:p>
        </p:txBody>
      </p:sp>
      <p:sp>
        <p:nvSpPr>
          <p:cNvPr id="38" name="Google Shape;38;p6"/>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1" i="0" lang="en-US" sz="3000">
                <a:solidFill>
                  <a:srgbClr val="2F78B0"/>
                </a:solidFill>
                <a:latin typeface="Nunito Sans"/>
                <a:ea typeface="Nunito Sans"/>
                <a:cs typeface="Nunito Sans"/>
                <a:sym typeface="Nunito Sans"/>
              </a:rPr>
              <a:t>Clinical trial information</a:t>
            </a:r>
            <a:r>
              <a:rPr b="0" i="0" lang="en-US" sz="3000">
                <a:solidFill>
                  <a:srgbClr val="2F78B0"/>
                </a:solidFill>
                <a:latin typeface="Nunito Sans"/>
                <a:ea typeface="Nunito Sans"/>
                <a:cs typeface="Nunito Sans"/>
                <a:sym typeface="Nunito Sans"/>
              </a:rPr>
              <a:t> is scattered</a:t>
            </a:r>
            <a:endParaRPr sz="3000"/>
          </a:p>
        </p:txBody>
      </p:sp>
      <p:sp>
        <p:nvSpPr>
          <p:cNvPr id="39" name="Google Shape;39;p6"/>
          <p:cNvSpPr/>
          <p:nvPr/>
        </p:nvSpPr>
        <p:spPr>
          <a:xfrm>
            <a:off x="1016000" y="1910011"/>
            <a:ext cx="10464800" cy="54094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400"/>
              <a:buFont typeface="Nunito Sans"/>
              <a:buNone/>
            </a:pPr>
            <a:r>
              <a:rPr b="0" i="0" lang="en-US" sz="1400" u="none" cap="none" strike="noStrike">
                <a:solidFill>
                  <a:srgbClr val="5B6670"/>
                </a:solidFill>
                <a:latin typeface="Nunito Sans"/>
                <a:ea typeface="Nunito Sans"/>
                <a:cs typeface="Nunito Sans"/>
                <a:sym typeface="Nunito Sans"/>
              </a:rPr>
              <a:t>Trials, papers and variant records live in separate databases, and each names the same variant differently: rs113488022, V600E and p.Val600Glu are all one mutation.</a:t>
            </a:r>
            <a:endParaRPr b="0" i="0" sz="1400" u="none" cap="none" strike="noStrike">
              <a:solidFill>
                <a:schemeClr val="dk1"/>
              </a:solidFill>
              <a:latin typeface="Nunito Sans"/>
              <a:ea typeface="Nunito Sans"/>
              <a:cs typeface="Nunito Sans"/>
              <a:sym typeface="Nunito Sans"/>
            </a:endParaRPr>
          </a:p>
        </p:txBody>
      </p:sp>
      <p:cxnSp>
        <p:nvCxnSpPr>
          <p:cNvPr id="40" name="Google Shape;40;p6"/>
          <p:cNvCxnSpPr/>
          <p:nvPr/>
        </p:nvCxnSpPr>
        <p:spPr>
          <a:xfrm>
            <a:off x="1016000" y="2682726"/>
            <a:ext cx="10160000" cy="0"/>
          </a:xfrm>
          <a:prstGeom prst="straightConnector1">
            <a:avLst/>
          </a:prstGeom>
          <a:noFill/>
          <a:ln cap="flat" cmpd="sng" w="9525">
            <a:solidFill>
              <a:srgbClr val="D3D9DE"/>
            </a:solidFill>
            <a:prstDash val="solid"/>
            <a:round/>
            <a:headEnd len="sm" w="sm" type="none"/>
            <a:tailEnd len="sm" w="sm" type="none"/>
          </a:ln>
        </p:spPr>
      </p:cxnSp>
      <p:sp>
        <p:nvSpPr>
          <p:cNvPr id="41" name="Google Shape;41;p6"/>
          <p:cNvSpPr/>
          <p:nvPr/>
        </p:nvSpPr>
        <p:spPr>
          <a:xfrm>
            <a:off x="1016000" y="2800201"/>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Hard to find</a:t>
            </a:r>
            <a:endParaRPr b="0" i="0" sz="1400" u="none" cap="none" strike="noStrike">
              <a:solidFill>
                <a:schemeClr val="dk1"/>
              </a:solidFill>
              <a:latin typeface="Nunito Sans"/>
              <a:ea typeface="Nunito Sans"/>
              <a:cs typeface="Nunito Sans"/>
              <a:sym typeface="Nunito Sans"/>
            </a:endParaRPr>
          </a:p>
        </p:txBody>
      </p:sp>
      <p:sp>
        <p:nvSpPr>
          <p:cNvPr id="42" name="Google Shape;42;p6"/>
          <p:cNvSpPr/>
          <p:nvPr/>
        </p:nvSpPr>
        <p:spPr>
          <a:xfrm>
            <a:off x="3378200" y="2812901"/>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Doctors can't quickly see which trials are running for a patient's variant.</a:t>
            </a:r>
            <a:endParaRPr b="0" i="0" sz="1300" u="none" cap="none" strike="noStrike">
              <a:solidFill>
                <a:schemeClr val="dk1"/>
              </a:solidFill>
              <a:latin typeface="Nunito Sans"/>
              <a:ea typeface="Nunito Sans"/>
              <a:cs typeface="Nunito Sans"/>
              <a:sym typeface="Nunito Sans"/>
            </a:endParaRPr>
          </a:p>
        </p:txBody>
      </p:sp>
      <p:cxnSp>
        <p:nvCxnSpPr>
          <p:cNvPr id="43" name="Google Shape;43;p6"/>
          <p:cNvCxnSpPr/>
          <p:nvPr/>
        </p:nvCxnSpPr>
        <p:spPr>
          <a:xfrm>
            <a:off x="1016000" y="3166566"/>
            <a:ext cx="10160000" cy="0"/>
          </a:xfrm>
          <a:prstGeom prst="straightConnector1">
            <a:avLst/>
          </a:prstGeom>
          <a:noFill/>
          <a:ln cap="flat" cmpd="sng" w="9525">
            <a:solidFill>
              <a:srgbClr val="D3D9DE"/>
            </a:solidFill>
            <a:prstDash val="solid"/>
            <a:round/>
            <a:headEnd len="sm" w="sm" type="none"/>
            <a:tailEnd len="sm" w="sm" type="none"/>
          </a:ln>
        </p:spPr>
      </p:cxnSp>
      <p:sp>
        <p:nvSpPr>
          <p:cNvPr id="44" name="Google Shape;44;p6"/>
          <p:cNvSpPr/>
          <p:nvPr/>
        </p:nvSpPr>
        <p:spPr>
          <a:xfrm>
            <a:off x="1016000" y="3284041"/>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Slow to learn</a:t>
            </a:r>
            <a:endParaRPr b="0" i="0" sz="1400" u="none" cap="none" strike="noStrike">
              <a:solidFill>
                <a:schemeClr val="dk1"/>
              </a:solidFill>
              <a:latin typeface="Nunito Sans"/>
              <a:ea typeface="Nunito Sans"/>
              <a:cs typeface="Nunito Sans"/>
              <a:sym typeface="Nunito Sans"/>
            </a:endParaRPr>
          </a:p>
        </p:txBody>
      </p:sp>
      <p:sp>
        <p:nvSpPr>
          <p:cNvPr id="45" name="Google Shape;45;p6"/>
          <p:cNvSpPr/>
          <p:nvPr/>
        </p:nvSpPr>
        <p:spPr>
          <a:xfrm>
            <a:off x="3378200" y="3296741"/>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Keeping up with ongoing trials means hours of searching, one database at a time.</a:t>
            </a:r>
            <a:endParaRPr b="0" i="0" sz="1300" u="none" cap="none" strike="noStrike">
              <a:solidFill>
                <a:schemeClr val="dk1"/>
              </a:solidFill>
              <a:latin typeface="Nunito Sans"/>
              <a:ea typeface="Nunito Sans"/>
              <a:cs typeface="Nunito Sans"/>
              <a:sym typeface="Nunito Sans"/>
            </a:endParaRPr>
          </a:p>
        </p:txBody>
      </p:sp>
      <p:cxnSp>
        <p:nvCxnSpPr>
          <p:cNvPr id="46" name="Google Shape;46;p6"/>
          <p:cNvCxnSpPr/>
          <p:nvPr/>
        </p:nvCxnSpPr>
        <p:spPr>
          <a:xfrm>
            <a:off x="1016000" y="3650407"/>
            <a:ext cx="10160000" cy="0"/>
          </a:xfrm>
          <a:prstGeom prst="straightConnector1">
            <a:avLst/>
          </a:prstGeom>
          <a:noFill/>
          <a:ln cap="flat" cmpd="sng" w="9525">
            <a:solidFill>
              <a:srgbClr val="D3D9DE"/>
            </a:solidFill>
            <a:prstDash val="solid"/>
            <a:round/>
            <a:headEnd len="sm" w="sm" type="none"/>
            <a:tailEnd len="sm" w="sm" type="none"/>
          </a:ln>
        </p:spPr>
      </p:cxnSp>
      <p:sp>
        <p:nvSpPr>
          <p:cNvPr id="47" name="Google Shape;47;p6"/>
          <p:cNvSpPr/>
          <p:nvPr/>
        </p:nvSpPr>
        <p:spPr>
          <a:xfrm>
            <a:off x="1016000" y="3767882"/>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Time matters</a:t>
            </a:r>
            <a:endParaRPr b="0" i="0" sz="1400" u="none" cap="none" strike="noStrike">
              <a:solidFill>
                <a:schemeClr val="dk1"/>
              </a:solidFill>
              <a:latin typeface="Nunito Sans"/>
              <a:ea typeface="Nunito Sans"/>
              <a:cs typeface="Nunito Sans"/>
              <a:sym typeface="Nunito Sans"/>
            </a:endParaRPr>
          </a:p>
        </p:txBody>
      </p:sp>
      <p:sp>
        <p:nvSpPr>
          <p:cNvPr id="48" name="Google Shape;48;p6"/>
          <p:cNvSpPr/>
          <p:nvPr/>
        </p:nvSpPr>
        <p:spPr>
          <a:xfrm>
            <a:off x="3378200" y="3780582"/>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For many of these diseases, speed is key to treatment.</a:t>
            </a:r>
            <a:endParaRPr b="0" i="0" sz="1300" u="none" cap="none" strike="noStrike">
              <a:solidFill>
                <a:schemeClr val="dk1"/>
              </a:solidFill>
              <a:latin typeface="Nunito Sans"/>
              <a:ea typeface="Nunito Sans"/>
              <a:cs typeface="Nunito Sans"/>
              <a:sym typeface="Nunito Sans"/>
            </a:endParaRPr>
          </a:p>
        </p:txBody>
      </p:sp>
      <p:cxnSp>
        <p:nvCxnSpPr>
          <p:cNvPr id="49" name="Google Shape;49;p6"/>
          <p:cNvCxnSpPr/>
          <p:nvPr/>
        </p:nvCxnSpPr>
        <p:spPr>
          <a:xfrm>
            <a:off x="1016000" y="4134247"/>
            <a:ext cx="10160000" cy="0"/>
          </a:xfrm>
          <a:prstGeom prst="straightConnector1">
            <a:avLst/>
          </a:prstGeom>
          <a:noFill/>
          <a:ln cap="flat" cmpd="sng" w="9525">
            <a:solidFill>
              <a:srgbClr val="D3D9DE"/>
            </a:solidFill>
            <a:prstDash val="solid"/>
            <a:round/>
            <a:headEnd len="sm" w="sm" type="none"/>
            <a:tailEnd len="sm" w="sm" type="none"/>
          </a:ln>
        </p:spPr>
      </p:cxnSp>
      <p:sp>
        <p:nvSpPr>
          <p:cNvPr id="50" name="Google Shape;50;p6"/>
          <p:cNvSpPr/>
          <p:nvPr/>
        </p:nvSpPr>
        <p:spPr>
          <a:xfrm>
            <a:off x="1016000" y="4391422"/>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23867D"/>
              </a:buClr>
              <a:buSzPts val="1400"/>
              <a:buFont typeface="Nunito Sans"/>
              <a:buNone/>
            </a:pPr>
            <a:r>
              <a:rPr b="1" i="0" lang="en-US" sz="1400" u="none" cap="none" strike="noStrike">
                <a:solidFill>
                  <a:srgbClr val="23867D"/>
                </a:solidFill>
                <a:latin typeface="Nunito Sans"/>
                <a:ea typeface="Nunito Sans"/>
                <a:cs typeface="Nunito Sans"/>
                <a:sym typeface="Nunito Sans"/>
              </a:rPr>
              <a:t>Geknowme centralizes it</a:t>
            </a:r>
            <a:r>
              <a:rPr b="0" i="0" lang="en-US" sz="1400" u="none" cap="none" strike="noStrike">
                <a:solidFill>
                  <a:srgbClr val="23867D"/>
                </a:solidFill>
                <a:latin typeface="Nunito Sans"/>
                <a:ea typeface="Nunito Sans"/>
                <a:cs typeface="Nunito Sans"/>
                <a:sym typeface="Nunito Sans"/>
              </a:rPr>
              <a:t>, so doctors learn about trials faster and patient care improves.</a:t>
            </a:r>
            <a:endParaRPr b="0" i="0" sz="1400" u="none" cap="none" strike="noStrike">
              <a:solidFill>
                <a:schemeClr val="dk1"/>
              </a:solidFill>
              <a:latin typeface="Nunito Sans"/>
              <a:ea typeface="Nunito Sans"/>
              <a:cs typeface="Nunito Sans"/>
              <a:sym typeface="Nunito Sans"/>
            </a:endParaRPr>
          </a:p>
        </p:txBody>
      </p:sp>
      <p:sp>
        <p:nvSpPr>
          <p:cNvPr id="51" name="Google Shape;51;p6"/>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2</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descr="preencoded.png" id="57" name="Google Shape;57;p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8" name="Google Shape;58;p7"/>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WHO IT'S FOR</a:t>
            </a:r>
            <a:endParaRPr b="0" i="0" sz="1200" u="none" cap="none" strike="noStrike">
              <a:solidFill>
                <a:schemeClr val="dk1"/>
              </a:solidFill>
              <a:latin typeface="Nunito Sans"/>
              <a:ea typeface="Nunito Sans"/>
              <a:cs typeface="Nunito Sans"/>
              <a:sym typeface="Nunito Sans"/>
            </a:endParaRPr>
          </a:p>
        </p:txBody>
      </p:sp>
      <p:sp>
        <p:nvSpPr>
          <p:cNvPr id="60" name="Google Shape;60;p7"/>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1" i="0" lang="en-US" sz="3000">
                <a:solidFill>
                  <a:srgbClr val="2F78B0"/>
                </a:solidFill>
                <a:latin typeface="Nunito Sans"/>
                <a:ea typeface="Nunito Sans"/>
                <a:cs typeface="Nunito Sans"/>
                <a:sym typeface="Nunito Sans"/>
              </a:rPr>
              <a:t>Clinicians</a:t>
            </a:r>
            <a:r>
              <a:rPr b="0" i="0" lang="en-US" sz="3000">
                <a:solidFill>
                  <a:srgbClr val="2F78B0"/>
                </a:solidFill>
                <a:latin typeface="Nunito Sans"/>
                <a:ea typeface="Nunito Sans"/>
                <a:cs typeface="Nunito Sans"/>
                <a:sym typeface="Nunito Sans"/>
              </a:rPr>
              <a:t> reading an unexpected result</a:t>
            </a:r>
            <a:endParaRPr sz="3000"/>
          </a:p>
        </p:txBody>
      </p:sp>
      <p:cxnSp>
        <p:nvCxnSpPr>
          <p:cNvPr id="61" name="Google Shape;61;p7"/>
          <p:cNvCxnSpPr/>
          <p:nvPr/>
        </p:nvCxnSpPr>
        <p:spPr>
          <a:xfrm>
            <a:off x="1016000" y="1913186"/>
            <a:ext cx="10160000" cy="0"/>
          </a:xfrm>
          <a:prstGeom prst="straightConnector1">
            <a:avLst/>
          </a:prstGeom>
          <a:noFill/>
          <a:ln cap="flat" cmpd="sng" w="9525">
            <a:solidFill>
              <a:srgbClr val="D3D9DE"/>
            </a:solidFill>
            <a:prstDash val="solid"/>
            <a:round/>
            <a:headEnd len="sm" w="sm" type="none"/>
            <a:tailEnd len="sm" w="sm" type="none"/>
          </a:ln>
        </p:spPr>
      </p:cxnSp>
      <p:sp>
        <p:nvSpPr>
          <p:cNvPr id="62" name="Google Shape;62;p7"/>
          <p:cNvSpPr/>
          <p:nvPr/>
        </p:nvSpPr>
        <p:spPr>
          <a:xfrm>
            <a:off x="1016000" y="2030661"/>
            <a:ext cx="196215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400"/>
              <a:buFont typeface="Nunito Sans"/>
              <a:buNone/>
            </a:pPr>
            <a:r>
              <a:rPr b="1" i="0" lang="en-US" sz="1400" u="none" cap="none" strike="noStrike">
                <a:solidFill>
                  <a:srgbClr val="23867D"/>
                </a:solidFill>
                <a:latin typeface="Nunito Sans"/>
                <a:ea typeface="Nunito Sans"/>
                <a:cs typeface="Nunito Sans"/>
                <a:sym typeface="Nunito Sans"/>
              </a:rPr>
              <a:t>1 · The test</a:t>
            </a:r>
            <a:endParaRPr b="0" i="0" sz="1400" u="none" cap="none" strike="noStrike">
              <a:solidFill>
                <a:schemeClr val="dk1"/>
              </a:solidFill>
              <a:latin typeface="Nunito Sans"/>
              <a:ea typeface="Nunito Sans"/>
              <a:cs typeface="Nunito Sans"/>
              <a:sym typeface="Nunito Sans"/>
            </a:endParaRPr>
          </a:p>
        </p:txBody>
      </p:sp>
      <p:sp>
        <p:nvSpPr>
          <p:cNvPr id="63" name="Google Shape;63;p7"/>
          <p:cNvSpPr/>
          <p:nvPr/>
        </p:nvSpPr>
        <p:spPr>
          <a:xfrm>
            <a:off x="3124200" y="2043361"/>
            <a:ext cx="829335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A PCR or genetic test on a patient comes back with an unfamiliar mutation.</a:t>
            </a:r>
            <a:endParaRPr b="0" i="0" sz="1300" u="none" cap="none" strike="noStrike">
              <a:solidFill>
                <a:schemeClr val="dk1"/>
              </a:solidFill>
              <a:latin typeface="Nunito Sans"/>
              <a:ea typeface="Nunito Sans"/>
              <a:cs typeface="Nunito Sans"/>
              <a:sym typeface="Nunito Sans"/>
            </a:endParaRPr>
          </a:p>
        </p:txBody>
      </p:sp>
      <p:cxnSp>
        <p:nvCxnSpPr>
          <p:cNvPr id="64" name="Google Shape;64;p7"/>
          <p:cNvCxnSpPr/>
          <p:nvPr/>
        </p:nvCxnSpPr>
        <p:spPr>
          <a:xfrm>
            <a:off x="1016000" y="2397026"/>
            <a:ext cx="10160000" cy="0"/>
          </a:xfrm>
          <a:prstGeom prst="straightConnector1">
            <a:avLst/>
          </a:prstGeom>
          <a:noFill/>
          <a:ln cap="flat" cmpd="sng" w="9525">
            <a:solidFill>
              <a:srgbClr val="D3D9DE"/>
            </a:solidFill>
            <a:prstDash val="solid"/>
            <a:round/>
            <a:headEnd len="sm" w="sm" type="none"/>
            <a:tailEnd len="sm" w="sm" type="none"/>
          </a:ln>
        </p:spPr>
      </p:cxnSp>
      <p:sp>
        <p:nvSpPr>
          <p:cNvPr id="65" name="Google Shape;65;p7"/>
          <p:cNvSpPr/>
          <p:nvPr/>
        </p:nvSpPr>
        <p:spPr>
          <a:xfrm>
            <a:off x="1016000" y="2514501"/>
            <a:ext cx="196215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400"/>
              <a:buFont typeface="Nunito Sans"/>
              <a:buNone/>
            </a:pPr>
            <a:r>
              <a:rPr b="1" i="0" lang="en-US" sz="1400" u="none" cap="none" strike="noStrike">
                <a:solidFill>
                  <a:srgbClr val="23867D"/>
                </a:solidFill>
                <a:latin typeface="Nunito Sans"/>
                <a:ea typeface="Nunito Sans"/>
                <a:cs typeface="Nunito Sans"/>
                <a:sym typeface="Nunito Sans"/>
              </a:rPr>
              <a:t>2 · Does it matter?</a:t>
            </a:r>
            <a:endParaRPr b="0" i="0" sz="1400" u="none" cap="none" strike="noStrike">
              <a:solidFill>
                <a:schemeClr val="dk1"/>
              </a:solidFill>
              <a:latin typeface="Nunito Sans"/>
              <a:ea typeface="Nunito Sans"/>
              <a:cs typeface="Nunito Sans"/>
              <a:sym typeface="Nunito Sans"/>
            </a:endParaRPr>
          </a:p>
        </p:txBody>
      </p:sp>
      <p:sp>
        <p:nvSpPr>
          <p:cNvPr id="66" name="Google Shape;66;p7"/>
          <p:cNvSpPr/>
          <p:nvPr/>
        </p:nvSpPr>
        <p:spPr>
          <a:xfrm>
            <a:off x="3124200" y="2527201"/>
            <a:ext cx="829335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Is it a meaningful marker, relevant to the disease being treated?</a:t>
            </a:r>
            <a:endParaRPr b="0" i="0" sz="1300" u="none" cap="none" strike="noStrike">
              <a:solidFill>
                <a:schemeClr val="dk1"/>
              </a:solidFill>
              <a:latin typeface="Nunito Sans"/>
              <a:ea typeface="Nunito Sans"/>
              <a:cs typeface="Nunito Sans"/>
              <a:sym typeface="Nunito Sans"/>
            </a:endParaRPr>
          </a:p>
        </p:txBody>
      </p:sp>
      <p:cxnSp>
        <p:nvCxnSpPr>
          <p:cNvPr id="67" name="Google Shape;67;p7"/>
          <p:cNvCxnSpPr/>
          <p:nvPr/>
        </p:nvCxnSpPr>
        <p:spPr>
          <a:xfrm>
            <a:off x="1016000" y="2880866"/>
            <a:ext cx="10160000" cy="0"/>
          </a:xfrm>
          <a:prstGeom prst="straightConnector1">
            <a:avLst/>
          </a:prstGeom>
          <a:noFill/>
          <a:ln cap="flat" cmpd="sng" w="9525">
            <a:solidFill>
              <a:srgbClr val="D3D9DE"/>
            </a:solidFill>
            <a:prstDash val="solid"/>
            <a:round/>
            <a:headEnd len="sm" w="sm" type="none"/>
            <a:tailEnd len="sm" w="sm" type="none"/>
          </a:ln>
        </p:spPr>
      </p:cxnSp>
      <p:sp>
        <p:nvSpPr>
          <p:cNvPr id="68" name="Google Shape;68;p7"/>
          <p:cNvSpPr/>
          <p:nvPr/>
        </p:nvSpPr>
        <p:spPr>
          <a:xfrm>
            <a:off x="1016000" y="2998341"/>
            <a:ext cx="196215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400"/>
              <a:buFont typeface="Nunito Sans"/>
              <a:buNone/>
            </a:pPr>
            <a:r>
              <a:rPr b="1" i="0" lang="en-US" sz="1400" u="none" cap="none" strike="noStrike">
                <a:solidFill>
                  <a:srgbClr val="23867D"/>
                </a:solidFill>
                <a:latin typeface="Nunito Sans"/>
                <a:ea typeface="Nunito Sans"/>
                <a:cs typeface="Nunito Sans"/>
                <a:sym typeface="Nunito Sans"/>
              </a:rPr>
              <a:t>3 · What's out there?</a:t>
            </a:r>
            <a:endParaRPr b="0" i="0" sz="1400" u="none" cap="none" strike="noStrike">
              <a:solidFill>
                <a:schemeClr val="dk1"/>
              </a:solidFill>
              <a:latin typeface="Nunito Sans"/>
              <a:ea typeface="Nunito Sans"/>
              <a:cs typeface="Nunito Sans"/>
              <a:sym typeface="Nunito Sans"/>
            </a:endParaRPr>
          </a:p>
        </p:txBody>
      </p:sp>
      <p:sp>
        <p:nvSpPr>
          <p:cNvPr id="69" name="Google Shape;69;p7"/>
          <p:cNvSpPr/>
          <p:nvPr/>
        </p:nvSpPr>
        <p:spPr>
          <a:xfrm>
            <a:off x="3124200" y="3011041"/>
            <a:ext cx="829335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If it is, what is the status of clinical trials researching it?</a:t>
            </a:r>
            <a:endParaRPr b="0" i="0" sz="1300" u="none" cap="none" strike="noStrike">
              <a:solidFill>
                <a:schemeClr val="dk1"/>
              </a:solidFill>
              <a:latin typeface="Nunito Sans"/>
              <a:ea typeface="Nunito Sans"/>
              <a:cs typeface="Nunito Sans"/>
              <a:sym typeface="Nunito Sans"/>
            </a:endParaRPr>
          </a:p>
        </p:txBody>
      </p:sp>
      <p:cxnSp>
        <p:nvCxnSpPr>
          <p:cNvPr id="70" name="Google Shape;70;p7"/>
          <p:cNvCxnSpPr/>
          <p:nvPr/>
        </p:nvCxnSpPr>
        <p:spPr>
          <a:xfrm>
            <a:off x="1016000" y="3364706"/>
            <a:ext cx="10160000" cy="0"/>
          </a:xfrm>
          <a:prstGeom prst="straightConnector1">
            <a:avLst/>
          </a:prstGeom>
          <a:noFill/>
          <a:ln cap="flat" cmpd="sng" w="9525">
            <a:solidFill>
              <a:srgbClr val="D3D9DE"/>
            </a:solidFill>
            <a:prstDash val="solid"/>
            <a:round/>
            <a:headEnd len="sm" w="sm" type="none"/>
            <a:tailEnd len="sm" w="sm" type="none"/>
          </a:ln>
        </p:spPr>
      </p:cxnSp>
      <p:sp>
        <p:nvSpPr>
          <p:cNvPr id="72" name="Google Shape;72;p7"/>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3</a:t>
            </a:r>
            <a:endParaRPr b="0" i="0" sz="1200" u="none" cap="none" strike="noStrike">
              <a:solidFill>
                <a:schemeClr val="dk1"/>
              </a:solidFill>
              <a:latin typeface="Nunito Sans"/>
              <a:ea typeface="Nunito Sans"/>
              <a:cs typeface="Nunito Sans"/>
              <a:sym typeface="Nunito Sans"/>
            </a:endParaRPr>
          </a:p>
        </p:txBody>
      </p:sp>
      <p:sp>
        <p:nvSpPr>
          <p:cNvPr id="300" name="Google Shape;300;p7m"/>
          <p:cNvSpPr/>
          <p:nvPr/>
        </p:nvSpPr>
        <p:spPr>
          <a:xfrm>
            <a:off x="1019175" y="3530000"/>
            <a:ext cx="4997450" cy="1604955"/>
          </a:xfrm>
          <a:prstGeom prst="roundRect">
            <a:avLst>
              <a:gd fmla="val 7312"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m"/>
          <p:cNvSpPr/>
          <p:nvPr/>
        </p:nvSpPr>
        <p:spPr>
          <a:xfrm>
            <a:off x="1250950" y="3761775"/>
            <a:ext cx="4533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SECONDARY USER</a:t>
            </a:r>
            <a:endParaRPr b="0" i="0" sz="1200" u="none" cap="none" strike="noStrike">
              <a:solidFill>
                <a:schemeClr val="dk1"/>
              </a:solidFill>
              <a:latin typeface="Nunito Sans"/>
              <a:ea typeface="Nunito Sans"/>
              <a:cs typeface="Nunito Sans"/>
              <a:sym typeface="Nunito Sans"/>
            </a:endParaRPr>
          </a:p>
        </p:txBody>
      </p:sp>
      <p:sp>
        <p:nvSpPr>
          <p:cNvPr id="302" name="Google Shape;302;p7m"/>
          <p:cNvSpPr/>
          <p:nvPr/>
        </p:nvSpPr>
        <p:spPr>
          <a:xfrm>
            <a:off x="1250950" y="4060495"/>
            <a:ext cx="453390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2A35"/>
              </a:buClr>
              <a:buSzPts val="1700"/>
              <a:buFont typeface="Nunito Sans"/>
              <a:buNone/>
            </a:pPr>
            <a:r>
              <a:rPr b="1" i="0" lang="en-US" sz="1700" u="none" cap="none" strike="noStrike">
                <a:solidFill>
                  <a:srgbClr val="1E2A35"/>
                </a:solidFill>
                <a:latin typeface="Nunito Sans"/>
                <a:ea typeface="Nunito Sans"/>
                <a:cs typeface="Nunito Sans"/>
                <a:sym typeface="Nunito Sans"/>
              </a:rPr>
              <a:t>Small biotech &amp; diagnostics companies</a:t>
            </a:r>
            <a:endParaRPr b="0" i="0" sz="1700" u="none" cap="none" strike="noStrike">
              <a:solidFill>
                <a:schemeClr val="dk1"/>
              </a:solidFill>
              <a:latin typeface="Nunito Sans"/>
              <a:ea typeface="Nunito Sans"/>
              <a:cs typeface="Nunito Sans"/>
              <a:sym typeface="Nunito Sans"/>
            </a:endParaRPr>
          </a:p>
        </p:txBody>
      </p:sp>
      <p:sp>
        <p:nvSpPr>
          <p:cNvPr id="303" name="Google Shape;303;p7m"/>
          <p:cNvSpPr/>
          <p:nvPr/>
        </p:nvSpPr>
        <p:spPr>
          <a:xfrm>
            <a:off x="1250950" y="4404955"/>
            <a:ext cx="4533900" cy="56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400"/>
              <a:buFont typeface="Nunito Sans"/>
              <a:buNone/>
            </a:pPr>
            <a:r>
              <a:rPr b="0" i="0" lang="en-US" sz="1400" u="none" cap="none" strike="noStrike">
                <a:solidFill>
                  <a:srgbClr val="5B6670"/>
                </a:solidFill>
                <a:latin typeface="Nunito Sans"/>
                <a:ea typeface="Nunito Sans"/>
                <a:cs typeface="Nunito Sans"/>
                <a:sym typeface="Nunito Sans"/>
              </a:rPr>
              <a:t>Cuts the overhead of a first trial landscape investigation, without a full genomics team.</a:t>
            </a:r>
            <a:endParaRPr b="0" i="0" sz="1400" u="none" cap="none" strike="noStrike">
              <a:solidFill>
                <a:schemeClr val="dk1"/>
              </a:solidFill>
              <a:latin typeface="Nunito Sans"/>
              <a:ea typeface="Nunito Sans"/>
              <a:cs typeface="Nunito Sans"/>
              <a:sym typeface="Nunito Sans"/>
            </a:endParaRPr>
          </a:p>
        </p:txBody>
      </p:sp>
      <p:sp>
        <p:nvSpPr>
          <p:cNvPr id="310" name="Google Shape;310;p7m"/>
          <p:cNvSpPr/>
          <p:nvPr/>
        </p:nvSpPr>
        <p:spPr>
          <a:xfrm>
            <a:off x="6175375" y="3530000"/>
            <a:ext cx="4997450" cy="1604955"/>
          </a:xfrm>
          <a:prstGeom prst="roundRect">
            <a:avLst>
              <a:gd fmla="val 7312"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m"/>
          <p:cNvSpPr/>
          <p:nvPr/>
        </p:nvSpPr>
        <p:spPr>
          <a:xfrm>
            <a:off x="6407150" y="3761775"/>
            <a:ext cx="4533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ALSO USEFUL FOR</a:t>
            </a:r>
            <a:endParaRPr b="0" i="0" sz="1200" u="none" cap="none" strike="noStrike">
              <a:solidFill>
                <a:schemeClr val="dk1"/>
              </a:solidFill>
              <a:latin typeface="Nunito Sans"/>
              <a:ea typeface="Nunito Sans"/>
              <a:cs typeface="Nunito Sans"/>
              <a:sym typeface="Nunito Sans"/>
            </a:endParaRPr>
          </a:p>
        </p:txBody>
      </p:sp>
      <p:sp>
        <p:nvSpPr>
          <p:cNvPr id="312" name="Google Shape;312;p7m"/>
          <p:cNvSpPr/>
          <p:nvPr/>
        </p:nvSpPr>
        <p:spPr>
          <a:xfrm>
            <a:off x="6407150" y="4060495"/>
            <a:ext cx="453390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2A35"/>
              </a:buClr>
              <a:buSzPts val="1700"/>
              <a:buFont typeface="Nunito Sans"/>
              <a:buNone/>
            </a:pPr>
            <a:r>
              <a:rPr b="1" i="0" lang="en-US" sz="1700" u="none" cap="none" strike="noStrike">
                <a:solidFill>
                  <a:srgbClr val="1E2A35"/>
                </a:solidFill>
                <a:latin typeface="Nunito Sans"/>
                <a:ea typeface="Nunito Sans"/>
                <a:cs typeface="Nunito Sans"/>
                <a:sym typeface="Nunito Sans"/>
              </a:rPr>
              <a:t>Large pharmaceutical companies</a:t>
            </a:r>
            <a:endParaRPr b="0" i="0" sz="1700" u="none" cap="none" strike="noStrike">
              <a:solidFill>
                <a:schemeClr val="dk1"/>
              </a:solidFill>
              <a:latin typeface="Nunito Sans"/>
              <a:ea typeface="Nunito Sans"/>
              <a:cs typeface="Nunito Sans"/>
              <a:sym typeface="Nunito Sans"/>
            </a:endParaRPr>
          </a:p>
        </p:txBody>
      </p:sp>
      <p:sp>
        <p:nvSpPr>
          <p:cNvPr id="313" name="Google Shape;313;p7m"/>
          <p:cNvSpPr/>
          <p:nvPr/>
        </p:nvSpPr>
        <p:spPr>
          <a:xfrm>
            <a:off x="6407150" y="4404955"/>
            <a:ext cx="4533900" cy="56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400"/>
              <a:buFont typeface="Nunito Sans"/>
              <a:buNone/>
            </a:pPr>
            <a:r>
              <a:rPr b="0" i="0" lang="en-US" sz="1400" u="none" cap="none" strike="noStrike">
                <a:solidFill>
                  <a:srgbClr val="5B6670"/>
                </a:solidFill>
                <a:latin typeface="Nunito Sans"/>
                <a:ea typeface="Nunito Sans"/>
                <a:cs typeface="Nunito Sans"/>
                <a:sym typeface="Nunito Sans"/>
              </a:rPr>
              <a:t>A quick preliminary scope of the competition before committing to a new drug.</a:t>
            </a:r>
            <a:endParaRPr b="0" i="0" sz="14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descr="preencoded.png" id="96" name="Google Shape;96;p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7" name="Google Shape;97;p9"/>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WHAT YOU GET</a:t>
            </a:r>
            <a:endParaRPr b="0" i="0" sz="1200" u="none" cap="none" strike="noStrike">
              <a:solidFill>
                <a:schemeClr val="dk1"/>
              </a:solidFill>
              <a:latin typeface="Nunito Sans"/>
              <a:ea typeface="Nunito Sans"/>
              <a:cs typeface="Nunito Sans"/>
              <a:sym typeface="Nunito Sans"/>
            </a:endParaRPr>
          </a:p>
        </p:txBody>
      </p:sp>
      <p:sp>
        <p:nvSpPr>
          <p:cNvPr id="99" name="Google Shape;99;p9"/>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1" i="0" lang="en-US" sz="3000">
                <a:solidFill>
                  <a:srgbClr val="2F78B0"/>
                </a:solidFill>
                <a:latin typeface="Nunito Sans"/>
                <a:ea typeface="Nunito Sans"/>
                <a:cs typeface="Nunito Sans"/>
                <a:sym typeface="Nunito Sans"/>
              </a:rPr>
              <a:t>One rs number in</a:t>
            </a:r>
            <a:r>
              <a:rPr b="0" i="0" lang="en-US" sz="3000">
                <a:solidFill>
                  <a:srgbClr val="2F78B0"/>
                </a:solidFill>
                <a:latin typeface="Nunito Sans"/>
                <a:ea typeface="Nunito Sans"/>
                <a:cs typeface="Nunito Sans"/>
                <a:sym typeface="Nunito Sans"/>
              </a:rPr>
              <a:t>, one cited brief out</a:t>
            </a:r>
            <a:endParaRPr sz="3000"/>
          </a:p>
        </p:txBody>
      </p:sp>
      <p:cxnSp>
        <p:nvCxnSpPr>
          <p:cNvPr id="100" name="Google Shape;100;p9"/>
          <p:cNvCxnSpPr/>
          <p:nvPr/>
        </p:nvCxnSpPr>
        <p:spPr>
          <a:xfrm>
            <a:off x="1016000" y="1913186"/>
            <a:ext cx="10160000" cy="0"/>
          </a:xfrm>
          <a:prstGeom prst="straightConnector1">
            <a:avLst/>
          </a:prstGeom>
          <a:noFill/>
          <a:ln cap="flat" cmpd="sng" w="9525">
            <a:solidFill>
              <a:srgbClr val="D3D9DE"/>
            </a:solidFill>
            <a:prstDash val="solid"/>
            <a:round/>
            <a:headEnd len="sm" w="sm" type="none"/>
            <a:tailEnd len="sm" w="sm" type="none"/>
          </a:ln>
        </p:spPr>
      </p:cxnSp>
      <p:sp>
        <p:nvSpPr>
          <p:cNvPr id="101" name="Google Shape;101;p9"/>
          <p:cNvSpPr/>
          <p:nvPr/>
        </p:nvSpPr>
        <p:spPr>
          <a:xfrm>
            <a:off x="1016000" y="2030661"/>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Variant &amp; names</a:t>
            </a:r>
            <a:endParaRPr b="0" i="0" sz="1400" u="none" cap="none" strike="noStrike">
              <a:solidFill>
                <a:schemeClr val="dk1"/>
              </a:solidFill>
              <a:latin typeface="Nunito Sans"/>
              <a:ea typeface="Nunito Sans"/>
              <a:cs typeface="Nunito Sans"/>
              <a:sym typeface="Nunito Sans"/>
            </a:endParaRPr>
          </a:p>
        </p:txBody>
      </p:sp>
      <p:sp>
        <p:nvSpPr>
          <p:cNvPr id="102" name="Google Shape;102;p9"/>
          <p:cNvSpPr/>
          <p:nvPr/>
        </p:nvSpPr>
        <p:spPr>
          <a:xfrm>
            <a:off x="3378200" y="2043361"/>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Gene, every notation and ClinVar significance</a:t>
            </a:r>
            <a:endParaRPr b="0" i="0" sz="1300" u="none" cap="none" strike="noStrike">
              <a:solidFill>
                <a:schemeClr val="dk1"/>
              </a:solidFill>
              <a:latin typeface="Nunito Sans"/>
              <a:ea typeface="Nunito Sans"/>
              <a:cs typeface="Nunito Sans"/>
              <a:sym typeface="Nunito Sans"/>
            </a:endParaRPr>
          </a:p>
        </p:txBody>
      </p:sp>
      <p:cxnSp>
        <p:nvCxnSpPr>
          <p:cNvPr id="103" name="Google Shape;103;p9"/>
          <p:cNvCxnSpPr/>
          <p:nvPr/>
        </p:nvCxnSpPr>
        <p:spPr>
          <a:xfrm>
            <a:off x="1016000" y="2397026"/>
            <a:ext cx="10160000" cy="0"/>
          </a:xfrm>
          <a:prstGeom prst="straightConnector1">
            <a:avLst/>
          </a:prstGeom>
          <a:noFill/>
          <a:ln cap="flat" cmpd="sng" w="9525">
            <a:solidFill>
              <a:srgbClr val="D3D9DE"/>
            </a:solidFill>
            <a:prstDash val="solid"/>
            <a:round/>
            <a:headEnd len="sm" w="sm" type="none"/>
            <a:tailEnd len="sm" w="sm" type="none"/>
          </a:ln>
        </p:spPr>
      </p:cxnSp>
      <p:sp>
        <p:nvSpPr>
          <p:cNvPr id="104" name="Google Shape;104;p9"/>
          <p:cNvSpPr/>
          <p:nvPr/>
        </p:nvSpPr>
        <p:spPr>
          <a:xfrm>
            <a:off x="1016000" y="2514501"/>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Trial landscape</a:t>
            </a:r>
            <a:endParaRPr b="0" i="0" sz="1400" u="none" cap="none" strike="noStrike">
              <a:solidFill>
                <a:schemeClr val="dk1"/>
              </a:solidFill>
              <a:latin typeface="Nunito Sans"/>
              <a:ea typeface="Nunito Sans"/>
              <a:cs typeface="Nunito Sans"/>
              <a:sym typeface="Nunito Sans"/>
            </a:endParaRPr>
          </a:p>
        </p:txBody>
      </p:sp>
      <p:sp>
        <p:nvSpPr>
          <p:cNvPr id="105" name="Google Shape;105;p9"/>
          <p:cNvSpPr/>
          <p:nvPr/>
        </p:nvSpPr>
        <p:spPr>
          <a:xfrm>
            <a:off x="3378200" y="2527201"/>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Every matching trial, by phase, status and drug</a:t>
            </a:r>
            <a:endParaRPr b="0" i="0" sz="1300" u="none" cap="none" strike="noStrike">
              <a:solidFill>
                <a:schemeClr val="dk1"/>
              </a:solidFill>
              <a:latin typeface="Nunito Sans"/>
              <a:ea typeface="Nunito Sans"/>
              <a:cs typeface="Nunito Sans"/>
              <a:sym typeface="Nunito Sans"/>
            </a:endParaRPr>
          </a:p>
        </p:txBody>
      </p:sp>
      <p:cxnSp>
        <p:nvCxnSpPr>
          <p:cNvPr id="106" name="Google Shape;106;p9"/>
          <p:cNvCxnSpPr/>
          <p:nvPr/>
        </p:nvCxnSpPr>
        <p:spPr>
          <a:xfrm>
            <a:off x="1016000" y="2880866"/>
            <a:ext cx="10160000" cy="0"/>
          </a:xfrm>
          <a:prstGeom prst="straightConnector1">
            <a:avLst/>
          </a:prstGeom>
          <a:noFill/>
          <a:ln cap="flat" cmpd="sng" w="9525">
            <a:solidFill>
              <a:srgbClr val="D3D9DE"/>
            </a:solidFill>
            <a:prstDash val="solid"/>
            <a:round/>
            <a:headEnd len="sm" w="sm" type="none"/>
            <a:tailEnd len="sm" w="sm" type="none"/>
          </a:ln>
        </p:spPr>
      </p:cxnSp>
      <p:sp>
        <p:nvSpPr>
          <p:cNvPr id="107" name="Google Shape;107;p9"/>
          <p:cNvSpPr/>
          <p:nvPr/>
        </p:nvSpPr>
        <p:spPr>
          <a:xfrm>
            <a:off x="1016000" y="2998341"/>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Eligibility rules</a:t>
            </a:r>
            <a:endParaRPr b="0" i="0" sz="1400" u="none" cap="none" strike="noStrike">
              <a:solidFill>
                <a:schemeClr val="dk1"/>
              </a:solidFill>
              <a:latin typeface="Nunito Sans"/>
              <a:ea typeface="Nunito Sans"/>
              <a:cs typeface="Nunito Sans"/>
              <a:sym typeface="Nunito Sans"/>
            </a:endParaRPr>
          </a:p>
        </p:txBody>
      </p:sp>
      <p:sp>
        <p:nvSpPr>
          <p:cNvPr id="108" name="Google Shape;108;p9"/>
          <p:cNvSpPr/>
          <p:nvPr/>
        </p:nvSpPr>
        <p:spPr>
          <a:xfrm>
            <a:off x="3378200" y="3011041"/>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How other trials screen for the variant, word for word</a:t>
            </a:r>
            <a:endParaRPr b="0" i="0" sz="1300" u="none" cap="none" strike="noStrike">
              <a:solidFill>
                <a:schemeClr val="dk1"/>
              </a:solidFill>
              <a:latin typeface="Nunito Sans"/>
              <a:ea typeface="Nunito Sans"/>
              <a:cs typeface="Nunito Sans"/>
              <a:sym typeface="Nunito Sans"/>
            </a:endParaRPr>
          </a:p>
        </p:txBody>
      </p:sp>
      <p:cxnSp>
        <p:nvCxnSpPr>
          <p:cNvPr id="109" name="Google Shape;109;p9"/>
          <p:cNvCxnSpPr/>
          <p:nvPr/>
        </p:nvCxnSpPr>
        <p:spPr>
          <a:xfrm>
            <a:off x="1016000" y="3364706"/>
            <a:ext cx="10160000" cy="0"/>
          </a:xfrm>
          <a:prstGeom prst="straightConnector1">
            <a:avLst/>
          </a:prstGeom>
          <a:noFill/>
          <a:ln cap="flat" cmpd="sng" w="9525">
            <a:solidFill>
              <a:srgbClr val="D3D9DE"/>
            </a:solidFill>
            <a:prstDash val="solid"/>
            <a:round/>
            <a:headEnd len="sm" w="sm" type="none"/>
            <a:tailEnd len="sm" w="sm" type="none"/>
          </a:ln>
        </p:spPr>
      </p:cxnSp>
      <p:sp>
        <p:nvSpPr>
          <p:cNvPr id="110" name="Google Shape;110;p9"/>
          <p:cNvSpPr/>
          <p:nvPr/>
        </p:nvSpPr>
        <p:spPr>
          <a:xfrm>
            <a:off x="1016000" y="3482181"/>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Publications</a:t>
            </a:r>
            <a:endParaRPr b="0" i="0" sz="1400" u="none" cap="none" strike="noStrike">
              <a:solidFill>
                <a:schemeClr val="dk1"/>
              </a:solidFill>
              <a:latin typeface="Nunito Sans"/>
              <a:ea typeface="Nunito Sans"/>
              <a:cs typeface="Nunito Sans"/>
              <a:sym typeface="Nunito Sans"/>
            </a:endParaRPr>
          </a:p>
        </p:txBody>
      </p:sp>
      <p:sp>
        <p:nvSpPr>
          <p:cNvPr id="111" name="Google Shape;111;p9"/>
          <p:cNvSpPr/>
          <p:nvPr/>
        </p:nvSpPr>
        <p:spPr>
          <a:xfrm>
            <a:off x="3378200" y="3494881"/>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Up to 200 PubMed papers, ranked by evidence level</a:t>
            </a:r>
            <a:endParaRPr b="0" i="0" sz="1300" u="none" cap="none" strike="noStrike">
              <a:solidFill>
                <a:schemeClr val="dk1"/>
              </a:solidFill>
              <a:latin typeface="Nunito Sans"/>
              <a:ea typeface="Nunito Sans"/>
              <a:cs typeface="Nunito Sans"/>
              <a:sym typeface="Nunito Sans"/>
            </a:endParaRPr>
          </a:p>
        </p:txBody>
      </p:sp>
      <p:cxnSp>
        <p:nvCxnSpPr>
          <p:cNvPr id="112" name="Google Shape;112;p9"/>
          <p:cNvCxnSpPr/>
          <p:nvPr/>
        </p:nvCxnSpPr>
        <p:spPr>
          <a:xfrm>
            <a:off x="1016000" y="3848546"/>
            <a:ext cx="10160000" cy="0"/>
          </a:xfrm>
          <a:prstGeom prst="straightConnector1">
            <a:avLst/>
          </a:prstGeom>
          <a:noFill/>
          <a:ln cap="flat" cmpd="sng" w="9525">
            <a:solidFill>
              <a:srgbClr val="D3D9DE"/>
            </a:solidFill>
            <a:prstDash val="solid"/>
            <a:round/>
            <a:headEnd len="sm" w="sm" type="none"/>
            <a:tailEnd len="sm" w="sm" type="none"/>
          </a:ln>
        </p:spPr>
      </p:cxnSp>
      <p:sp>
        <p:nvSpPr>
          <p:cNvPr id="113" name="Google Shape;113;p9"/>
          <p:cNvSpPr/>
          <p:nvPr/>
        </p:nvSpPr>
        <p:spPr>
          <a:xfrm>
            <a:off x="1016000" y="3966021"/>
            <a:ext cx="22237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AI treatment summary</a:t>
            </a:r>
            <a:endParaRPr b="0" i="0" sz="1400" u="none" cap="none" strike="noStrike">
              <a:solidFill>
                <a:schemeClr val="dk1"/>
              </a:solidFill>
              <a:latin typeface="Nunito Sans"/>
              <a:ea typeface="Nunito Sans"/>
              <a:cs typeface="Nunito Sans"/>
              <a:sym typeface="Nunito Sans"/>
            </a:endParaRPr>
          </a:p>
        </p:txBody>
      </p:sp>
      <p:sp>
        <p:nvSpPr>
          <p:cNvPr id="114" name="Google Shape;114;p9"/>
          <p:cNvSpPr/>
          <p:nvPr/>
        </p:nvSpPr>
        <p:spPr>
          <a:xfrm>
            <a:off x="3378200" y="3978721"/>
            <a:ext cx="803173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Every claim cited, and checked by code</a:t>
            </a:r>
            <a:endParaRPr b="0" i="0" sz="1300" u="none" cap="none" strike="noStrike">
              <a:solidFill>
                <a:schemeClr val="dk1"/>
              </a:solidFill>
              <a:latin typeface="Nunito Sans"/>
              <a:ea typeface="Nunito Sans"/>
              <a:cs typeface="Nunito Sans"/>
              <a:sym typeface="Nunito Sans"/>
            </a:endParaRPr>
          </a:p>
        </p:txBody>
      </p:sp>
      <p:cxnSp>
        <p:nvCxnSpPr>
          <p:cNvPr id="115" name="Google Shape;115;p9"/>
          <p:cNvCxnSpPr/>
          <p:nvPr/>
        </p:nvCxnSpPr>
        <p:spPr>
          <a:xfrm>
            <a:off x="1016000" y="4332387"/>
            <a:ext cx="10160000" cy="0"/>
          </a:xfrm>
          <a:prstGeom prst="straightConnector1">
            <a:avLst/>
          </a:prstGeom>
          <a:noFill/>
          <a:ln cap="flat" cmpd="sng" w="9525">
            <a:solidFill>
              <a:srgbClr val="D3D9DE"/>
            </a:solidFill>
            <a:prstDash val="solid"/>
            <a:round/>
            <a:headEnd len="sm" w="sm" type="none"/>
            <a:tailEnd len="sm" w="sm" type="none"/>
          </a:ln>
        </p:spPr>
      </p:cxnSp>
      <p:sp>
        <p:nvSpPr>
          <p:cNvPr id="116" name="Google Shape;116;p9"/>
          <p:cNvSpPr/>
          <p:nvPr/>
        </p:nvSpPr>
        <p:spPr>
          <a:xfrm>
            <a:off x="1016000" y="4589562"/>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23867D"/>
              </a:buClr>
              <a:buSzPts val="1400"/>
              <a:buFont typeface="Nunito Sans"/>
              <a:buNone/>
            </a:pPr>
            <a:r>
              <a:rPr b="0" i="0" lang="en-US" sz="1400" u="none" cap="none" strike="noStrike">
                <a:solidFill>
                  <a:srgbClr val="23867D"/>
                </a:solidFill>
                <a:latin typeface="Nunito Sans"/>
                <a:ea typeface="Nunito Sans"/>
                <a:cs typeface="Nunito Sans"/>
                <a:sym typeface="Nunito Sans"/>
              </a:rPr>
              <a:t>Every item links to its source. Every section exports to CSV.</a:t>
            </a:r>
            <a:endParaRPr b="0" i="0" sz="1400" u="none" cap="none" strike="noStrike">
              <a:solidFill>
                <a:schemeClr val="dk1"/>
              </a:solidFill>
              <a:latin typeface="Nunito Sans"/>
              <a:ea typeface="Nunito Sans"/>
              <a:cs typeface="Nunito Sans"/>
              <a:sym typeface="Nunito Sans"/>
            </a:endParaRPr>
          </a:p>
        </p:txBody>
      </p:sp>
      <p:sp>
        <p:nvSpPr>
          <p:cNvPr id="117" name="Google Shape;117;p9"/>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4</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preencoded.png" id="123" name="Google Shape;123;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4" name="Google Shape;124;p10"/>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0"/>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CAN YOU TRUST IT?</a:t>
            </a:r>
            <a:endParaRPr b="0" i="0" sz="1200" u="none" cap="none" strike="noStrike">
              <a:solidFill>
                <a:schemeClr val="dk1"/>
              </a:solidFill>
              <a:latin typeface="Nunito Sans"/>
              <a:ea typeface="Nunito Sans"/>
              <a:cs typeface="Nunito Sans"/>
              <a:sym typeface="Nunito Sans"/>
            </a:endParaRPr>
          </a:p>
        </p:txBody>
      </p:sp>
      <p:sp>
        <p:nvSpPr>
          <p:cNvPr id="126" name="Google Shape;126;p10"/>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0" i="0" lang="en-US" sz="3000">
                <a:solidFill>
                  <a:srgbClr val="2F78B0"/>
                </a:solidFill>
                <a:latin typeface="Nunito Sans"/>
                <a:ea typeface="Nunito Sans"/>
                <a:cs typeface="Nunito Sans"/>
                <a:sym typeface="Nunito Sans"/>
              </a:rPr>
              <a:t>It finds </a:t>
            </a:r>
            <a:r>
              <a:rPr b="1" i="0" lang="en-US" sz="3000">
                <a:solidFill>
                  <a:srgbClr val="2F78B0"/>
                </a:solidFill>
                <a:latin typeface="Nunito Sans"/>
                <a:ea typeface="Nunito Sans"/>
                <a:cs typeface="Nunito Sans"/>
                <a:sym typeface="Nunito Sans"/>
              </a:rPr>
              <a:t>what specialists already know</a:t>
            </a:r>
            <a:endParaRPr sz="3000"/>
          </a:p>
        </p:txBody>
      </p:sp>
      <p:sp>
        <p:nvSpPr>
          <p:cNvPr id="127" name="Google Shape;127;p10"/>
          <p:cNvSpPr/>
          <p:nvPr/>
        </p:nvSpPr>
        <p:spPr>
          <a:xfrm>
            <a:off x="1019175" y="1913186"/>
            <a:ext cx="4997450" cy="1753791"/>
          </a:xfrm>
          <a:prstGeom prst="roundRect">
            <a:avLst>
              <a:gd fmla="val 5612"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p:cNvSpPr/>
          <p:nvPr/>
        </p:nvSpPr>
        <p:spPr>
          <a:xfrm>
            <a:off x="1225550" y="2119561"/>
            <a:ext cx="4722241"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23867D"/>
              </a:buClr>
              <a:buSzPts val="1200"/>
              <a:buFont typeface="Nunito Sans"/>
              <a:buNone/>
            </a:pPr>
            <a:r>
              <a:rPr b="1" i="0" lang="en-US" sz="1200" u="none" cap="none" strike="noStrike">
                <a:solidFill>
                  <a:srgbClr val="23867D"/>
                </a:solidFill>
                <a:latin typeface="Nunito Sans"/>
                <a:ea typeface="Nunito Sans"/>
                <a:cs typeface="Nunito Sans"/>
                <a:sym typeface="Nunito Sans"/>
              </a:rPr>
              <a:t>BRAF V600E</a:t>
            </a:r>
            <a:endParaRPr b="0" i="0" sz="1200" u="none" cap="none" strike="noStrike">
              <a:solidFill>
                <a:schemeClr val="dk1"/>
              </a:solidFill>
              <a:latin typeface="Nunito Sans"/>
              <a:ea typeface="Nunito Sans"/>
              <a:cs typeface="Nunito Sans"/>
              <a:sym typeface="Nunito Sans"/>
            </a:endParaRPr>
          </a:p>
        </p:txBody>
      </p:sp>
      <p:sp>
        <p:nvSpPr>
          <p:cNvPr id="129" name="Google Shape;129;p10"/>
          <p:cNvSpPr/>
          <p:nvPr/>
        </p:nvSpPr>
        <p:spPr>
          <a:xfrm>
            <a:off x="1225550" y="2416721"/>
            <a:ext cx="472224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2A35"/>
              </a:buClr>
              <a:buSzPts val="1500"/>
              <a:buFont typeface="Nunito Sans"/>
              <a:buNone/>
            </a:pPr>
            <a:r>
              <a:rPr b="1" i="0" lang="en-US" sz="1500" u="none" cap="none" strike="noStrike">
                <a:solidFill>
                  <a:srgbClr val="1E2A35"/>
                </a:solidFill>
                <a:latin typeface="Nunito Sans"/>
                <a:ea typeface="Nunito Sans"/>
                <a:cs typeface="Nunito Sans"/>
                <a:sym typeface="Nunito Sans"/>
              </a:rPr>
              <a:t>Melanoma, colorectal &amp; lung cancer</a:t>
            </a:r>
            <a:endParaRPr b="0" i="0" sz="1500" u="none" cap="none" strike="noStrike">
              <a:solidFill>
                <a:schemeClr val="dk1"/>
              </a:solidFill>
              <a:latin typeface="Nunito Sans"/>
              <a:ea typeface="Nunito Sans"/>
              <a:cs typeface="Nunito Sans"/>
              <a:sym typeface="Nunito Sans"/>
            </a:endParaRPr>
          </a:p>
        </p:txBody>
      </p:sp>
      <p:sp>
        <p:nvSpPr>
          <p:cNvPr id="130" name="Google Shape;130;p10"/>
          <p:cNvSpPr/>
          <p:nvPr/>
        </p:nvSpPr>
        <p:spPr>
          <a:xfrm>
            <a:off x="1225550" y="2721521"/>
            <a:ext cx="4722241" cy="4673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Most-tested drugs across 256 trials: encorafenib, dabrafenib, trametinib. The AI table leads with the approved combinations.</a:t>
            </a:r>
            <a:endParaRPr b="0" i="0" sz="1200" u="none" cap="none" strike="noStrike">
              <a:solidFill>
                <a:schemeClr val="dk1"/>
              </a:solidFill>
              <a:latin typeface="Nunito Sans"/>
              <a:ea typeface="Nunito Sans"/>
              <a:cs typeface="Nunito Sans"/>
              <a:sym typeface="Nunito Sans"/>
            </a:endParaRPr>
          </a:p>
        </p:txBody>
      </p:sp>
      <p:sp>
        <p:nvSpPr>
          <p:cNvPr id="131" name="Google Shape;131;p10"/>
          <p:cNvSpPr/>
          <p:nvPr/>
        </p:nvSpPr>
        <p:spPr>
          <a:xfrm>
            <a:off x="1225550" y="3239641"/>
            <a:ext cx="4722241"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D6E67"/>
              </a:buClr>
              <a:buSzPts val="1200"/>
              <a:buFont typeface="Nunito Sans"/>
              <a:buNone/>
            </a:pPr>
            <a:r>
              <a:rPr b="1" i="0" lang="en-US" sz="1200" u="none" cap="none" strike="noStrike">
                <a:solidFill>
                  <a:srgbClr val="1D6E67"/>
                </a:solidFill>
                <a:latin typeface="Nunito Sans"/>
                <a:ea typeface="Nunito Sans"/>
                <a:cs typeface="Nunito Sans"/>
                <a:sym typeface="Nunito Sans"/>
              </a:rPr>
              <a:t>12 of 12 AI rows fully verified</a:t>
            </a:r>
            <a:endParaRPr b="0" i="0" sz="1200" u="none" cap="none" strike="noStrike">
              <a:solidFill>
                <a:schemeClr val="dk1"/>
              </a:solidFill>
              <a:latin typeface="Nunito Sans"/>
              <a:ea typeface="Nunito Sans"/>
              <a:cs typeface="Nunito Sans"/>
              <a:sym typeface="Nunito Sans"/>
            </a:endParaRPr>
          </a:p>
        </p:txBody>
      </p:sp>
      <p:sp>
        <p:nvSpPr>
          <p:cNvPr id="132" name="Google Shape;132;p10"/>
          <p:cNvSpPr/>
          <p:nvPr/>
        </p:nvSpPr>
        <p:spPr>
          <a:xfrm>
            <a:off x="6175375" y="1913186"/>
            <a:ext cx="4997450" cy="1753791"/>
          </a:xfrm>
          <a:prstGeom prst="roundRect">
            <a:avLst>
              <a:gd fmla="val 5612"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
          <p:cNvSpPr/>
          <p:nvPr/>
        </p:nvSpPr>
        <p:spPr>
          <a:xfrm>
            <a:off x="6381750" y="2119561"/>
            <a:ext cx="4722241"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23867D"/>
              </a:buClr>
              <a:buSzPts val="1200"/>
              <a:buFont typeface="Nunito Sans"/>
              <a:buNone/>
            </a:pPr>
            <a:r>
              <a:rPr b="1" i="0" lang="en-US" sz="1200" u="none" cap="none" strike="noStrike">
                <a:solidFill>
                  <a:srgbClr val="23867D"/>
                </a:solidFill>
                <a:latin typeface="Nunito Sans"/>
                <a:ea typeface="Nunito Sans"/>
                <a:cs typeface="Nunito Sans"/>
                <a:sym typeface="Nunito Sans"/>
              </a:rPr>
              <a:t>CFTR F508del</a:t>
            </a:r>
            <a:endParaRPr b="0" i="0" sz="1200" u="none" cap="none" strike="noStrike">
              <a:solidFill>
                <a:schemeClr val="dk1"/>
              </a:solidFill>
              <a:latin typeface="Nunito Sans"/>
              <a:ea typeface="Nunito Sans"/>
              <a:cs typeface="Nunito Sans"/>
              <a:sym typeface="Nunito Sans"/>
            </a:endParaRPr>
          </a:p>
        </p:txBody>
      </p:sp>
      <p:sp>
        <p:nvSpPr>
          <p:cNvPr id="134" name="Google Shape;134;p10"/>
          <p:cNvSpPr/>
          <p:nvPr/>
        </p:nvSpPr>
        <p:spPr>
          <a:xfrm>
            <a:off x="6381750" y="2416721"/>
            <a:ext cx="472224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2A35"/>
              </a:buClr>
              <a:buSzPts val="1500"/>
              <a:buFont typeface="Nunito Sans"/>
              <a:buNone/>
            </a:pPr>
            <a:r>
              <a:rPr b="1" i="0" lang="en-US" sz="1500" u="none" cap="none" strike="noStrike">
                <a:solidFill>
                  <a:srgbClr val="1E2A35"/>
                </a:solidFill>
                <a:latin typeface="Nunito Sans"/>
                <a:ea typeface="Nunito Sans"/>
                <a:cs typeface="Nunito Sans"/>
                <a:sym typeface="Nunito Sans"/>
              </a:rPr>
              <a:t>Cystic fibrosis</a:t>
            </a:r>
            <a:endParaRPr b="0" i="0" sz="1500" u="none" cap="none" strike="noStrike">
              <a:solidFill>
                <a:schemeClr val="dk1"/>
              </a:solidFill>
              <a:latin typeface="Nunito Sans"/>
              <a:ea typeface="Nunito Sans"/>
              <a:cs typeface="Nunito Sans"/>
              <a:sym typeface="Nunito Sans"/>
            </a:endParaRPr>
          </a:p>
        </p:txBody>
      </p:sp>
      <p:sp>
        <p:nvSpPr>
          <p:cNvPr id="135" name="Google Shape;135;p10"/>
          <p:cNvSpPr/>
          <p:nvPr/>
        </p:nvSpPr>
        <p:spPr>
          <a:xfrm>
            <a:off x="6381750" y="2721521"/>
            <a:ext cx="4722241" cy="4673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Ivacaftor-based modulators dominate its 114 trials. The top AI row is Trikafta, backed by a meta-analysis.</a:t>
            </a:r>
            <a:endParaRPr b="0" i="0" sz="1200" u="none" cap="none" strike="noStrike">
              <a:solidFill>
                <a:schemeClr val="dk1"/>
              </a:solidFill>
              <a:latin typeface="Nunito Sans"/>
              <a:ea typeface="Nunito Sans"/>
              <a:cs typeface="Nunito Sans"/>
              <a:sym typeface="Nunito Sans"/>
            </a:endParaRPr>
          </a:p>
        </p:txBody>
      </p:sp>
      <p:sp>
        <p:nvSpPr>
          <p:cNvPr id="136" name="Google Shape;136;p10"/>
          <p:cNvSpPr/>
          <p:nvPr/>
        </p:nvSpPr>
        <p:spPr>
          <a:xfrm>
            <a:off x="6381750" y="3239641"/>
            <a:ext cx="4722241"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D6E67"/>
              </a:buClr>
              <a:buSzPts val="1200"/>
              <a:buFont typeface="Nunito Sans"/>
              <a:buNone/>
            </a:pPr>
            <a:r>
              <a:rPr b="1" i="0" lang="en-US" sz="1200" u="none" cap="none" strike="noStrike">
                <a:solidFill>
                  <a:srgbClr val="1D6E67"/>
                </a:solidFill>
                <a:latin typeface="Nunito Sans"/>
                <a:ea typeface="Nunito Sans"/>
                <a:cs typeface="Nunito Sans"/>
                <a:sym typeface="Nunito Sans"/>
              </a:rPr>
              <a:t>9 of 10 AI rows fully verified</a:t>
            </a:r>
            <a:endParaRPr b="0" i="0" sz="1200" u="none" cap="none" strike="noStrike">
              <a:solidFill>
                <a:schemeClr val="dk1"/>
              </a:solidFill>
              <a:latin typeface="Nunito Sans"/>
              <a:ea typeface="Nunito Sans"/>
              <a:cs typeface="Nunito Sans"/>
              <a:sym typeface="Nunito Sans"/>
            </a:endParaRPr>
          </a:p>
        </p:txBody>
      </p:sp>
      <p:sp>
        <p:nvSpPr>
          <p:cNvPr id="137" name="Google Shape;137;p10"/>
          <p:cNvSpPr/>
          <p:nvPr/>
        </p:nvSpPr>
        <p:spPr>
          <a:xfrm>
            <a:off x="1016000" y="3924151"/>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400"/>
              <a:buFont typeface="Nunito Sans"/>
              <a:buNone/>
            </a:pPr>
            <a:r>
              <a:rPr b="0" i="0" lang="en-US" sz="1400" u="none" cap="none" strike="noStrike">
                <a:solidFill>
                  <a:srgbClr val="5B6670"/>
                </a:solidFill>
                <a:latin typeface="Nunito Sans"/>
                <a:ea typeface="Nunito Sans"/>
                <a:cs typeface="Nunito Sans"/>
                <a:sym typeface="Nunito Sans"/>
              </a:rPr>
              <a:t>Well-known variants come out the way experts expect, so clinicians can trust the pipeline on the ones they don't know.</a:t>
            </a:r>
            <a:endParaRPr b="0" i="0" sz="1400" u="none" cap="none" strike="noStrike">
              <a:solidFill>
                <a:schemeClr val="dk1"/>
              </a:solidFill>
              <a:latin typeface="Nunito Sans"/>
              <a:ea typeface="Nunito Sans"/>
              <a:cs typeface="Nunito Sans"/>
              <a:sym typeface="Nunito Sans"/>
            </a:endParaRPr>
          </a:p>
        </p:txBody>
      </p:sp>
      <p:sp>
        <p:nvSpPr>
          <p:cNvPr id="138" name="Google Shape;138;p10"/>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5</a:t>
            </a:r>
            <a:endParaRPr b="0" i="0" sz="1200" u="none" cap="none" strike="noStrike">
              <a:solidFill>
                <a:schemeClr val="dk1"/>
              </a:solidFill>
              <a:latin typeface="Nunito Sans"/>
              <a:ea typeface="Nunito Sans"/>
              <a:cs typeface="Nunito Sans"/>
              <a:sym typeface="Nunito Sans"/>
            </a:endParaRPr>
          </a:p>
        </p:txBody>
      </p:sp>
      <p:sp>
        <p:nvSpPr>
          <p:cNvPr id="400" name="Google Shape;400;merge"/>
          <p:cNvSpPr txBox="1"/>
          <p:nvPr/>
        </p:nvSpPr>
        <p:spPr>
          <a:xfrm>
            <a:off x="1016000" y="4330000"/>
            <a:ext cx="10464800" cy="238720"/>
          </a:xfrm>
          <a:prstGeom prst="rect">
            <a:avLst/>
          </a:prstGeom>
          <a:noFill/>
          <a:ln>
            <a:noFill/>
          </a:ln>
        </p:spPr>
        <p:txBody>
          <a:bodyPr wrap="square" lIns="0" tIns="0" rIns="0" bIns="0" anchor="t">
            <a:noAutofit/>
          </a:bodyPr>
          <a:lstStyle/>
          <a:p>
            <a:pPr marL="0" indent="0" algn="l">
              <a:lnSpc>
                <a:spcPct val="140000"/>
              </a:lnSpc>
              <a:spcBef>
                <a:spcPts val="0"/>
              </a:spcBef>
              <a:spcAft>
                <a:spcPts val="0"/>
              </a:spcAft>
              <a:buNone/>
            </a:pPr>
            <a:r>
              <a:rPr lang="en-US" sz="1200" b="1" spc="150">
                <a:solidFill>
                  <a:srgbClr val="23867D"/>
                </a:solidFill>
                <a:latin typeface="Nunito Sans"/>
                <a:ea typeface="Nunito Sans"/>
                <a:cs typeface="Nunito Sans"/>
                <a:sym typeface="Nunito Sans"/>
              </a:rPr>
              <a:t>HARD-CODED SAFETY CHECKS ON EVERY AI ROW · 41 OF 43 FULLY VERIFIED, 0 INVENTED SOURCES</a:t>
            </a:r>
          </a:p>
        </p:txBody>
      </p:sp>
      <p:sp>
        <p:nvSpPr>
          <p:cNvPr id="401" name="Google Shape;401;merge"/>
          <p:cNvSpPr txBox="1"/>
          <p:nvPr/>
        </p:nvSpPr>
        <p:spPr>
          <a:xfrm>
            <a:off x="1019175" y="4640000"/>
            <a:ext cx="2425912" cy="620000"/>
          </a:xfrm>
          <a:prstGeom prst="roundRect">
            <a:avLst>
              <a:gd name="adj" fmla="val 12000"/>
            </a:avLst>
          </a:prstGeom>
          <a:solidFill>
            <a:srgbClr val="E6F0F8"/>
          </a:solidFill>
          <a:ln>
            <a:noFill/>
          </a:ln>
        </p:spPr>
        <p:txBody>
          <a:bodyPr wrap="square" lIns="110000" tIns="110000" rIns="110000" bIns="110000" anchor="t">
            <a:noAutofit/>
          </a:bodyPr>
          <a:lstStyle/>
          <a:p>
            <a:pPr marL="0" indent="0" algn="l">
              <a:lnSpc>
                <a:spcPct val="130000"/>
              </a:lnSpc>
              <a:spcBef>
                <a:spcPts val="0"/>
              </a:spcBef>
              <a:spcAft>
                <a:spcPts val="0"/>
              </a:spcAft>
              <a:buNone/>
            </a:pPr>
            <a:r>
              <a:rPr lang="en-US" sz="1300" b="1">
                <a:solidFill>
                  <a:srgbClr val="1E2A35"/>
                </a:solidFill>
                <a:latin typeface="Nunito Sans"/>
                <a:ea typeface="Nunito Sans"/>
                <a:cs typeface="Nunito Sans"/>
                <a:sym typeface="Nunito Sans"/>
              </a:rPr>
              <a:t>1 · Real source</a:t>
            </a:r>
          </a:p>
          <a:p>
            <a:pPr marL="0" indent="0" algn="l">
              <a:lnSpc>
                <a:spcPct val="130000"/>
              </a:lnSpc>
              <a:spcBef>
                <a:spcPts val="0"/>
              </a:spcBef>
              <a:spcAft>
                <a:spcPts val="0"/>
              </a:spcAft>
              <a:buNone/>
            </a:pPr>
            <a:r>
              <a:rPr lang="en-US" sz="1200">
                <a:solidFill>
                  <a:srgbClr val="5B6670"/>
                </a:solidFill>
                <a:latin typeface="Nunito Sans"/>
                <a:ea typeface="Nunito Sans"/>
                <a:cs typeface="Nunito Sans"/>
                <a:sym typeface="Nunito Sans"/>
              </a:rPr>
              <a:t>Fails: row removed</a:t>
            </a:r>
          </a:p>
        </p:txBody>
      </p:sp>
      <p:sp>
        <p:nvSpPr>
          <p:cNvPr id="402" name="Google Shape;402;merge"/>
          <p:cNvSpPr txBox="1"/>
          <p:nvPr/>
        </p:nvSpPr>
        <p:spPr>
          <a:xfrm>
            <a:off x="3595087" y="4640000"/>
            <a:ext cx="2425912" cy="620000"/>
          </a:xfrm>
          <a:prstGeom prst="roundRect">
            <a:avLst>
              <a:gd name="adj" fmla="val 12000"/>
            </a:avLst>
          </a:prstGeom>
          <a:solidFill>
            <a:srgbClr val="E6F0F8"/>
          </a:solidFill>
          <a:ln>
            <a:noFill/>
          </a:ln>
        </p:spPr>
        <p:txBody>
          <a:bodyPr wrap="square" lIns="110000" tIns="110000" rIns="110000" bIns="110000" anchor="t">
            <a:noAutofit/>
          </a:bodyPr>
          <a:lstStyle/>
          <a:p>
            <a:pPr marL="0" indent="0" algn="l">
              <a:lnSpc>
                <a:spcPct val="130000"/>
              </a:lnSpc>
              <a:spcBef>
                <a:spcPts val="0"/>
              </a:spcBef>
              <a:spcAft>
                <a:spcPts val="0"/>
              </a:spcAft>
              <a:buNone/>
            </a:pPr>
            <a:r>
              <a:rPr lang="en-US" sz="1300" b="1">
                <a:solidFill>
                  <a:srgbClr val="1E2A35"/>
                </a:solidFill>
                <a:latin typeface="Nunito Sans"/>
                <a:ea typeface="Nunito Sans"/>
                <a:cs typeface="Nunito Sans"/>
                <a:sym typeface="Nunito Sans"/>
              </a:rPr>
              <a:t>2 · Exact quote</a:t>
            </a:r>
          </a:p>
          <a:p>
            <a:pPr marL="0" indent="0" algn="l">
              <a:lnSpc>
                <a:spcPct val="130000"/>
              </a:lnSpc>
              <a:spcBef>
                <a:spcPts val="0"/>
              </a:spcBef>
              <a:spcAft>
                <a:spcPts val="0"/>
              </a:spcAft>
              <a:buNone/>
            </a:pPr>
            <a:r>
              <a:rPr lang="en-US" sz="1200">
                <a:solidFill>
                  <a:srgbClr val="5B6670"/>
                </a:solidFill>
                <a:latin typeface="Nunito Sans"/>
                <a:ea typeface="Nunito Sans"/>
                <a:cs typeface="Nunito Sans"/>
                <a:sym typeface="Nunito Sans"/>
              </a:rPr>
              <a:t>Fails: row removed</a:t>
            </a:r>
          </a:p>
        </p:txBody>
      </p:sp>
      <p:sp>
        <p:nvSpPr>
          <p:cNvPr id="403" name="Google Shape;403;merge"/>
          <p:cNvSpPr txBox="1"/>
          <p:nvPr/>
        </p:nvSpPr>
        <p:spPr>
          <a:xfrm>
            <a:off x="6170999" y="4640000"/>
            <a:ext cx="2425912" cy="620000"/>
          </a:xfrm>
          <a:prstGeom prst="roundRect">
            <a:avLst>
              <a:gd name="adj" fmla="val 12000"/>
            </a:avLst>
          </a:prstGeom>
          <a:solidFill>
            <a:srgbClr val="E6F0F8"/>
          </a:solidFill>
          <a:ln>
            <a:noFill/>
          </a:ln>
        </p:spPr>
        <p:txBody>
          <a:bodyPr wrap="square" lIns="110000" tIns="110000" rIns="110000" bIns="110000" anchor="t">
            <a:noAutofit/>
          </a:bodyPr>
          <a:lstStyle/>
          <a:p>
            <a:pPr marL="0" indent="0" algn="l">
              <a:lnSpc>
                <a:spcPct val="130000"/>
              </a:lnSpc>
              <a:spcBef>
                <a:spcPts val="0"/>
              </a:spcBef>
              <a:spcAft>
                <a:spcPts val="0"/>
              </a:spcAft>
              <a:buNone/>
            </a:pPr>
            <a:r>
              <a:rPr lang="en-US" sz="1300" b="1">
                <a:solidFill>
                  <a:srgbClr val="1E2A35"/>
                </a:solidFill>
                <a:latin typeface="Nunito Sans"/>
                <a:ea typeface="Nunito Sans"/>
                <a:cs typeface="Nunito Sans"/>
                <a:sym typeface="Nunito Sans"/>
              </a:rPr>
              <a:t>3 · Numbers match</a:t>
            </a:r>
          </a:p>
          <a:p>
            <a:pPr marL="0" indent="0" algn="l">
              <a:lnSpc>
                <a:spcPct val="130000"/>
              </a:lnSpc>
              <a:spcBef>
                <a:spcPts val="0"/>
              </a:spcBef>
              <a:spcAft>
                <a:spcPts val="0"/>
              </a:spcAft>
              <a:buNone/>
            </a:pPr>
            <a:r>
              <a:rPr lang="en-US" sz="1200">
                <a:solidFill>
                  <a:srgbClr val="5B6670"/>
                </a:solidFill>
                <a:latin typeface="Nunito Sans"/>
                <a:ea typeface="Nunito Sans"/>
                <a:cs typeface="Nunito Sans"/>
                <a:sym typeface="Nunito Sans"/>
              </a:rPr>
              <a:t>Fails: flagged</a:t>
            </a:r>
          </a:p>
        </p:txBody>
      </p:sp>
      <p:sp>
        <p:nvSpPr>
          <p:cNvPr id="404" name="Google Shape;404;merge"/>
          <p:cNvSpPr txBox="1"/>
          <p:nvPr/>
        </p:nvSpPr>
        <p:spPr>
          <a:xfrm>
            <a:off x="8746911" y="4640000"/>
            <a:ext cx="2425912" cy="620000"/>
          </a:xfrm>
          <a:prstGeom prst="roundRect">
            <a:avLst>
              <a:gd name="adj" fmla="val 12000"/>
            </a:avLst>
          </a:prstGeom>
          <a:solidFill>
            <a:srgbClr val="E6F0F8"/>
          </a:solidFill>
          <a:ln>
            <a:noFill/>
          </a:ln>
        </p:spPr>
        <p:txBody>
          <a:bodyPr wrap="square" lIns="110000" tIns="110000" rIns="110000" bIns="110000" anchor="t">
            <a:noAutofit/>
          </a:bodyPr>
          <a:lstStyle/>
          <a:p>
            <a:pPr marL="0" indent="0" algn="l">
              <a:lnSpc>
                <a:spcPct val="130000"/>
              </a:lnSpc>
              <a:spcBef>
                <a:spcPts val="0"/>
              </a:spcBef>
              <a:spcAft>
                <a:spcPts val="0"/>
              </a:spcAft>
              <a:buNone/>
            </a:pPr>
            <a:r>
              <a:rPr lang="en-US" sz="1300" b="1">
                <a:solidFill>
                  <a:srgbClr val="1E2A35"/>
                </a:solidFill>
                <a:latin typeface="Nunito Sans"/>
                <a:ea typeface="Nunito Sans"/>
                <a:cs typeface="Nunito Sans"/>
                <a:sym typeface="Nunito Sans"/>
              </a:rPr>
              <a:t>4 · Tier fits</a:t>
            </a:r>
          </a:p>
          <a:p>
            <a:pPr marL="0" indent="0" algn="l">
              <a:lnSpc>
                <a:spcPct val="130000"/>
              </a:lnSpc>
              <a:spcBef>
                <a:spcPts val="0"/>
              </a:spcBef>
              <a:spcAft>
                <a:spcPts val="0"/>
              </a:spcAft>
              <a:buNone/>
            </a:pPr>
            <a:r>
              <a:rPr lang="en-US" sz="1200">
                <a:solidFill>
                  <a:srgbClr val="5B6670"/>
                </a:solidFill>
                <a:latin typeface="Nunito Sans"/>
                <a:ea typeface="Nunito Sans"/>
                <a:cs typeface="Nunito Sans"/>
                <a:sym typeface="Nunito Sans"/>
              </a:rPr>
              <a:t>Fails: flagged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preencoded.png" id="171" name="Google Shape;171;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2" name="Google Shape;172;p12"/>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LESSER-KNOWN · SNCA A53T · PARKINSON'S / LEWY BODY</a:t>
            </a:r>
            <a:endParaRPr b="0" i="0" sz="1200" u="none" cap="none" strike="noStrike">
              <a:solidFill>
                <a:schemeClr val="dk1"/>
              </a:solidFill>
              <a:latin typeface="Nunito Sans"/>
              <a:ea typeface="Nunito Sans"/>
              <a:cs typeface="Nunito Sans"/>
              <a:sym typeface="Nunito Sans"/>
            </a:endParaRPr>
          </a:p>
        </p:txBody>
      </p:sp>
      <p:sp>
        <p:nvSpPr>
          <p:cNvPr id="174" name="Google Shape;174;p12"/>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1" i="0" lang="en-US" sz="3000">
                <a:solidFill>
                  <a:srgbClr val="2F78B0"/>
                </a:solidFill>
                <a:latin typeface="Nunito Sans"/>
                <a:ea typeface="Nunito Sans"/>
                <a:cs typeface="Nunito Sans"/>
                <a:sym typeface="Nunito Sans"/>
              </a:rPr>
              <a:t>Disease-causing</a:t>
            </a:r>
            <a:r>
              <a:rPr b="0" i="0" lang="en-US" sz="3000">
                <a:solidFill>
                  <a:srgbClr val="2F78B0"/>
                </a:solidFill>
                <a:latin typeface="Nunito Sans"/>
                <a:ea typeface="Nunito Sans"/>
                <a:cs typeface="Nunito Sans"/>
                <a:sym typeface="Nunito Sans"/>
              </a:rPr>
              <a:t>, but no trial targets it yet</a:t>
            </a:r>
            <a:endParaRPr sz="3000"/>
          </a:p>
        </p:txBody>
      </p:sp>
      <p:cxnSp>
        <p:nvCxnSpPr>
          <p:cNvPr id="175" name="Google Shape;175;p12"/>
          <p:cNvCxnSpPr/>
          <p:nvPr/>
        </p:nvCxnSpPr>
        <p:spPr>
          <a:xfrm>
            <a:off x="1016000" y="1865561"/>
            <a:ext cx="4978400" cy="0"/>
          </a:xfrm>
          <a:prstGeom prst="straightConnector1">
            <a:avLst/>
          </a:prstGeom>
          <a:noFill/>
          <a:ln cap="flat" cmpd="sng" w="12700">
            <a:solidFill>
              <a:srgbClr val="D3D9DE"/>
            </a:solidFill>
            <a:prstDash val="solid"/>
            <a:round/>
            <a:headEnd len="sm" w="sm" type="none"/>
            <a:tailEnd len="sm" w="sm" type="none"/>
          </a:ln>
        </p:spPr>
      </p:cxnSp>
      <p:sp>
        <p:nvSpPr>
          <p:cNvPr id="176" name="Google Shape;176;p12"/>
          <p:cNvSpPr/>
          <p:nvPr/>
        </p:nvSpPr>
        <p:spPr>
          <a:xfrm>
            <a:off x="1016000" y="199891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78B0"/>
              </a:buClr>
              <a:buSzPts val="4000"/>
              <a:buFont typeface="Nunito Sans"/>
              <a:buNone/>
            </a:pPr>
            <a:r>
              <a:rPr b="0" i="0" lang="en-US" sz="4000" u="none" cap="none" strike="noStrike">
                <a:solidFill>
                  <a:srgbClr val="2F78B0"/>
                </a:solidFill>
                <a:latin typeface="Nunito Sans"/>
                <a:ea typeface="Nunito Sans"/>
                <a:cs typeface="Nunito Sans"/>
                <a:sym typeface="Nunito Sans"/>
              </a:rPr>
              <a:t>4 of 4</a:t>
            </a:r>
            <a:endParaRPr b="0" i="0" sz="4000" u="none" cap="none" strike="noStrike">
              <a:solidFill>
                <a:schemeClr val="dk1"/>
              </a:solidFill>
              <a:latin typeface="Nunito Sans"/>
              <a:ea typeface="Nunito Sans"/>
              <a:cs typeface="Nunito Sans"/>
              <a:sym typeface="Nunito Sans"/>
            </a:endParaRPr>
          </a:p>
        </p:txBody>
      </p:sp>
      <p:sp>
        <p:nvSpPr>
          <p:cNvPr id="177" name="Google Shape;177;p12"/>
          <p:cNvSpPr/>
          <p:nvPr/>
        </p:nvSpPr>
        <p:spPr>
          <a:xfrm>
            <a:off x="1016000" y="254501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ClinVar records: pathogenic</a:t>
            </a:r>
            <a:endParaRPr b="0" i="0" sz="1200" u="none" cap="none" strike="noStrike">
              <a:solidFill>
                <a:schemeClr val="dk1"/>
              </a:solidFill>
              <a:latin typeface="Nunito Sans"/>
              <a:ea typeface="Nunito Sans"/>
              <a:cs typeface="Nunito Sans"/>
              <a:sym typeface="Nunito Sans"/>
            </a:endParaRPr>
          </a:p>
        </p:txBody>
      </p:sp>
      <p:cxnSp>
        <p:nvCxnSpPr>
          <p:cNvPr id="178" name="Google Shape;178;p12"/>
          <p:cNvCxnSpPr/>
          <p:nvPr/>
        </p:nvCxnSpPr>
        <p:spPr>
          <a:xfrm>
            <a:off x="6197600" y="1865561"/>
            <a:ext cx="4978400" cy="0"/>
          </a:xfrm>
          <a:prstGeom prst="straightConnector1">
            <a:avLst/>
          </a:prstGeom>
          <a:noFill/>
          <a:ln cap="flat" cmpd="sng" w="12700">
            <a:solidFill>
              <a:srgbClr val="D3D9DE"/>
            </a:solidFill>
            <a:prstDash val="solid"/>
            <a:round/>
            <a:headEnd len="sm" w="sm" type="none"/>
            <a:tailEnd len="sm" w="sm" type="none"/>
          </a:ln>
        </p:spPr>
      </p:cxnSp>
      <p:sp>
        <p:nvSpPr>
          <p:cNvPr id="179" name="Google Shape;179;p12"/>
          <p:cNvSpPr/>
          <p:nvPr/>
        </p:nvSpPr>
        <p:spPr>
          <a:xfrm>
            <a:off x="6197600" y="199891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78B0"/>
              </a:buClr>
              <a:buSzPts val="4000"/>
              <a:buFont typeface="Nunito Sans"/>
              <a:buNone/>
            </a:pPr>
            <a:r>
              <a:rPr b="0" i="0" lang="en-US" sz="4000" u="none" cap="none" strike="noStrike">
                <a:solidFill>
                  <a:srgbClr val="2F78B0"/>
                </a:solidFill>
                <a:latin typeface="Nunito Sans"/>
                <a:ea typeface="Nunito Sans"/>
                <a:cs typeface="Nunito Sans"/>
                <a:sym typeface="Nunito Sans"/>
              </a:rPr>
              <a:t>0</a:t>
            </a:r>
            <a:endParaRPr b="0" i="0" sz="4000" u="none" cap="none" strike="noStrike">
              <a:solidFill>
                <a:schemeClr val="dk1"/>
              </a:solidFill>
              <a:latin typeface="Nunito Sans"/>
              <a:ea typeface="Nunito Sans"/>
              <a:cs typeface="Nunito Sans"/>
              <a:sym typeface="Nunito Sans"/>
            </a:endParaRPr>
          </a:p>
        </p:txBody>
      </p:sp>
      <p:sp>
        <p:nvSpPr>
          <p:cNvPr id="180" name="Google Shape;180;p12"/>
          <p:cNvSpPr/>
          <p:nvPr/>
        </p:nvSpPr>
        <p:spPr>
          <a:xfrm>
            <a:off x="6197600" y="254501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trials name the variant itself</a:t>
            </a:r>
            <a:endParaRPr b="0" i="0" sz="1200" u="none" cap="none" strike="noStrike">
              <a:solidFill>
                <a:schemeClr val="dk1"/>
              </a:solidFill>
              <a:latin typeface="Nunito Sans"/>
              <a:ea typeface="Nunito Sans"/>
              <a:cs typeface="Nunito Sans"/>
              <a:sym typeface="Nunito Sans"/>
            </a:endParaRPr>
          </a:p>
        </p:txBody>
      </p:sp>
      <p:cxnSp>
        <p:nvCxnSpPr>
          <p:cNvPr id="181" name="Google Shape;181;p12"/>
          <p:cNvCxnSpPr/>
          <p:nvPr/>
        </p:nvCxnSpPr>
        <p:spPr>
          <a:xfrm>
            <a:off x="1016000" y="2975521"/>
            <a:ext cx="4978400" cy="0"/>
          </a:xfrm>
          <a:prstGeom prst="straightConnector1">
            <a:avLst/>
          </a:prstGeom>
          <a:noFill/>
          <a:ln cap="flat" cmpd="sng" w="12700">
            <a:solidFill>
              <a:srgbClr val="D3D9DE"/>
            </a:solidFill>
            <a:prstDash val="solid"/>
            <a:round/>
            <a:headEnd len="sm" w="sm" type="none"/>
            <a:tailEnd len="sm" w="sm" type="none"/>
          </a:ln>
        </p:spPr>
      </p:cxnSp>
      <p:sp>
        <p:nvSpPr>
          <p:cNvPr id="182" name="Google Shape;182;p12"/>
          <p:cNvSpPr/>
          <p:nvPr/>
        </p:nvSpPr>
        <p:spPr>
          <a:xfrm>
            <a:off x="1016000" y="310887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867D"/>
              </a:buClr>
              <a:buSzPts val="4000"/>
              <a:buFont typeface="Nunito Sans"/>
              <a:buNone/>
            </a:pPr>
            <a:r>
              <a:rPr b="0" i="0" lang="en-US" sz="4000" u="none" cap="none" strike="noStrike">
                <a:solidFill>
                  <a:srgbClr val="23867D"/>
                </a:solidFill>
                <a:latin typeface="Nunito Sans"/>
                <a:ea typeface="Nunito Sans"/>
                <a:cs typeface="Nunito Sans"/>
                <a:sym typeface="Nunito Sans"/>
              </a:rPr>
              <a:t>14</a:t>
            </a:r>
            <a:endParaRPr b="0" i="0" sz="4000" u="none" cap="none" strike="noStrike">
              <a:solidFill>
                <a:schemeClr val="dk1"/>
              </a:solidFill>
              <a:latin typeface="Nunito Sans"/>
              <a:ea typeface="Nunito Sans"/>
              <a:cs typeface="Nunito Sans"/>
              <a:sym typeface="Nunito Sans"/>
            </a:endParaRPr>
          </a:p>
        </p:txBody>
      </p:sp>
      <p:sp>
        <p:nvSpPr>
          <p:cNvPr id="183" name="Google Shape;183;p12"/>
          <p:cNvSpPr/>
          <p:nvPr/>
        </p:nvSpPr>
        <p:spPr>
          <a:xfrm>
            <a:off x="1016000" y="365497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trials open now for the disease</a:t>
            </a:r>
            <a:endParaRPr b="0" i="0" sz="1200" u="none" cap="none" strike="noStrike">
              <a:solidFill>
                <a:schemeClr val="dk1"/>
              </a:solidFill>
              <a:latin typeface="Nunito Sans"/>
              <a:ea typeface="Nunito Sans"/>
              <a:cs typeface="Nunito Sans"/>
              <a:sym typeface="Nunito Sans"/>
            </a:endParaRPr>
          </a:p>
        </p:txBody>
      </p:sp>
      <p:cxnSp>
        <p:nvCxnSpPr>
          <p:cNvPr id="184" name="Google Shape;184;p12"/>
          <p:cNvCxnSpPr/>
          <p:nvPr/>
        </p:nvCxnSpPr>
        <p:spPr>
          <a:xfrm>
            <a:off x="6197600" y="2975521"/>
            <a:ext cx="4978400" cy="0"/>
          </a:xfrm>
          <a:prstGeom prst="straightConnector1">
            <a:avLst/>
          </a:prstGeom>
          <a:noFill/>
          <a:ln cap="flat" cmpd="sng" w="12700">
            <a:solidFill>
              <a:srgbClr val="D3D9DE"/>
            </a:solidFill>
            <a:prstDash val="solid"/>
            <a:round/>
            <a:headEnd len="sm" w="sm" type="none"/>
            <a:tailEnd len="sm" w="sm" type="none"/>
          </a:ln>
        </p:spPr>
      </p:cxnSp>
      <p:sp>
        <p:nvSpPr>
          <p:cNvPr id="185" name="Google Shape;185;p12"/>
          <p:cNvSpPr/>
          <p:nvPr/>
        </p:nvSpPr>
        <p:spPr>
          <a:xfrm>
            <a:off x="6197600" y="310887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78B0"/>
              </a:buClr>
              <a:buSzPts val="4000"/>
              <a:buFont typeface="Nunito Sans"/>
              <a:buNone/>
            </a:pPr>
            <a:r>
              <a:rPr b="0" i="0" lang="en-US" sz="4000" u="none" cap="none" strike="noStrike">
                <a:solidFill>
                  <a:srgbClr val="2F78B0"/>
                </a:solidFill>
                <a:latin typeface="Nunito Sans"/>
                <a:ea typeface="Nunito Sans"/>
                <a:cs typeface="Nunito Sans"/>
                <a:sym typeface="Nunito Sans"/>
              </a:rPr>
              <a:t>11 of 12</a:t>
            </a:r>
            <a:endParaRPr b="0" i="0" sz="4000" u="none" cap="none" strike="noStrike">
              <a:solidFill>
                <a:schemeClr val="dk1"/>
              </a:solidFill>
              <a:latin typeface="Nunito Sans"/>
              <a:ea typeface="Nunito Sans"/>
              <a:cs typeface="Nunito Sans"/>
              <a:sym typeface="Nunito Sans"/>
            </a:endParaRPr>
          </a:p>
        </p:txBody>
      </p:sp>
      <p:sp>
        <p:nvSpPr>
          <p:cNvPr id="186" name="Google Shape;186;p12"/>
          <p:cNvSpPr/>
          <p:nvPr/>
        </p:nvSpPr>
        <p:spPr>
          <a:xfrm>
            <a:off x="6197600" y="365497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AI treatment rows: lab or animal evidence only</a:t>
            </a:r>
            <a:endParaRPr b="0" i="0" sz="1200" u="none" cap="none" strike="noStrike">
              <a:solidFill>
                <a:schemeClr val="dk1"/>
              </a:solidFill>
              <a:latin typeface="Nunito Sans"/>
              <a:ea typeface="Nunito Sans"/>
              <a:cs typeface="Nunito Sans"/>
              <a:sym typeface="Nunito Sans"/>
            </a:endParaRPr>
          </a:p>
        </p:txBody>
      </p:sp>
      <p:sp>
        <p:nvSpPr>
          <p:cNvPr id="187" name="Google Shape;187;p12"/>
          <p:cNvSpPr/>
          <p:nvPr/>
        </p:nvSpPr>
        <p:spPr>
          <a:xfrm>
            <a:off x="1019175" y="4082306"/>
            <a:ext cx="10153650" cy="1030000"/>
          </a:xfrm>
          <a:prstGeom prst="roundRect">
            <a:avLst>
              <a:gd fmla="val 11373"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2"/>
          <p:cNvSpPr/>
          <p:nvPr/>
        </p:nvSpPr>
        <p:spPr>
          <a:xfrm>
            <a:off x="1200150" y="4263281"/>
            <a:ext cx="100854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WHAT THE CLINICIAN LEARNS</a:t>
            </a:r>
            <a:endParaRPr b="0" i="0" sz="1200" u="none" cap="none" strike="noStrike">
              <a:solidFill>
                <a:schemeClr val="dk1"/>
              </a:solidFill>
              <a:latin typeface="Nunito Sans"/>
              <a:ea typeface="Nunito Sans"/>
              <a:cs typeface="Nunito Sans"/>
              <a:sym typeface="Nunito Sans"/>
            </a:endParaRPr>
          </a:p>
        </p:txBody>
      </p:sp>
      <p:sp>
        <p:nvSpPr>
          <p:cNvPr id="189" name="Google Shape;189;p12"/>
          <p:cNvSpPr/>
          <p:nvPr/>
        </p:nvSpPr>
        <p:spPr>
          <a:xfrm>
            <a:off x="1200175" y="4518251"/>
            <a:ext cx="10085400" cy="52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None/>
            </a:pPr>
            <a:r>
              <a:rPr lang="en-US" sz="1300">
                <a:solidFill>
                  <a:srgbClr val="1E2A35"/>
                </a:solidFill>
                <a:latin typeface="Nunito Sans"/>
                <a:ea typeface="Nunito Sans"/>
                <a:cs typeface="Nunito Sans"/>
                <a:sym typeface="Nunito Sans"/>
              </a:rPr>
              <a:t>Likely relevant to the disease. No trial targets this variant yet, but 14 are open for the disease, including a Phase 2 the patient could be referred to.</a:t>
            </a:r>
            <a:endParaRPr b="0" i="0" sz="1300" u="none" cap="none" strike="noStrike">
              <a:solidFill>
                <a:schemeClr val="dk1"/>
              </a:solidFill>
              <a:latin typeface="Nunito Sans"/>
              <a:ea typeface="Nunito Sans"/>
              <a:cs typeface="Nunito Sans"/>
              <a:sym typeface="Nunito Sans"/>
            </a:endParaRPr>
          </a:p>
        </p:txBody>
      </p:sp>
      <p:sp>
        <p:nvSpPr>
          <p:cNvPr id="190" name="Google Shape;190;p12"/>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6</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preencoded.png" id="196" name="Google Shape;196;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p13"/>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LESSER-KNOWN · COMT V158M · PAIN &amp; PSYCHIATRIC DISORDERS</a:t>
            </a:r>
            <a:endParaRPr b="0" i="0" sz="1200" u="none" cap="none" strike="noStrike">
              <a:solidFill>
                <a:schemeClr val="dk1"/>
              </a:solidFill>
              <a:latin typeface="Nunito Sans"/>
              <a:ea typeface="Nunito Sans"/>
              <a:cs typeface="Nunito Sans"/>
              <a:sym typeface="Nunito Sans"/>
            </a:endParaRPr>
          </a:p>
        </p:txBody>
      </p:sp>
      <p:sp>
        <p:nvSpPr>
          <p:cNvPr id="199" name="Google Shape;199;p13"/>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1" i="0" lang="en-US" sz="3000">
                <a:solidFill>
                  <a:srgbClr val="2F78B0"/>
                </a:solidFill>
                <a:latin typeface="Nunito Sans"/>
                <a:ea typeface="Nunito Sans"/>
                <a:cs typeface="Nunito Sans"/>
                <a:sym typeface="Nunito Sans"/>
              </a:rPr>
              <a:t>A common variant</a:t>
            </a:r>
            <a:r>
              <a:rPr b="0" i="0" lang="en-US" sz="3000">
                <a:solidFill>
                  <a:srgbClr val="2F78B0"/>
                </a:solidFill>
                <a:latin typeface="Nunito Sans"/>
                <a:ea typeface="Nunito Sans"/>
                <a:cs typeface="Nunito Sans"/>
                <a:sym typeface="Nunito Sans"/>
              </a:rPr>
              <a:t>, not a treatment target</a:t>
            </a:r>
            <a:endParaRPr sz="3000"/>
          </a:p>
        </p:txBody>
      </p:sp>
      <p:cxnSp>
        <p:nvCxnSpPr>
          <p:cNvPr id="200" name="Google Shape;200;p13"/>
          <p:cNvCxnSpPr/>
          <p:nvPr/>
        </p:nvCxnSpPr>
        <p:spPr>
          <a:xfrm>
            <a:off x="1016000" y="1865561"/>
            <a:ext cx="4978400" cy="0"/>
          </a:xfrm>
          <a:prstGeom prst="straightConnector1">
            <a:avLst/>
          </a:prstGeom>
          <a:noFill/>
          <a:ln cap="flat" cmpd="sng" w="12700">
            <a:solidFill>
              <a:srgbClr val="D3D9DE"/>
            </a:solidFill>
            <a:prstDash val="solid"/>
            <a:round/>
            <a:headEnd len="sm" w="sm" type="none"/>
            <a:tailEnd len="sm" w="sm" type="none"/>
          </a:ln>
        </p:spPr>
      </p:cxnSp>
      <p:sp>
        <p:nvSpPr>
          <p:cNvPr id="201" name="Google Shape;201;p13"/>
          <p:cNvSpPr/>
          <p:nvPr/>
        </p:nvSpPr>
        <p:spPr>
          <a:xfrm>
            <a:off x="1016000" y="199891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78B0"/>
              </a:buClr>
              <a:buSzPts val="4000"/>
              <a:buFont typeface="Nunito Sans"/>
              <a:buNone/>
            </a:pPr>
            <a:r>
              <a:rPr b="0" i="0" lang="en-US" sz="4000" u="none" cap="none" strike="noStrike">
                <a:solidFill>
                  <a:srgbClr val="2F78B0"/>
                </a:solidFill>
                <a:latin typeface="Nunito Sans"/>
                <a:ea typeface="Nunito Sans"/>
                <a:cs typeface="Nunito Sans"/>
                <a:sym typeface="Nunito Sans"/>
              </a:rPr>
              <a:t>4 of 5</a:t>
            </a:r>
            <a:endParaRPr b="0" i="0" sz="4000" u="none" cap="none" strike="noStrike">
              <a:solidFill>
                <a:schemeClr val="dk1"/>
              </a:solidFill>
              <a:latin typeface="Nunito Sans"/>
              <a:ea typeface="Nunito Sans"/>
              <a:cs typeface="Nunito Sans"/>
              <a:sym typeface="Nunito Sans"/>
            </a:endParaRPr>
          </a:p>
        </p:txBody>
      </p:sp>
      <p:sp>
        <p:nvSpPr>
          <p:cNvPr id="202" name="Google Shape;202;p13"/>
          <p:cNvSpPr/>
          <p:nvPr/>
        </p:nvSpPr>
        <p:spPr>
          <a:xfrm>
            <a:off x="1016000" y="254501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ClinVar records: benign</a:t>
            </a:r>
            <a:endParaRPr b="0" i="0" sz="1200" u="none" cap="none" strike="noStrike">
              <a:solidFill>
                <a:schemeClr val="dk1"/>
              </a:solidFill>
              <a:latin typeface="Nunito Sans"/>
              <a:ea typeface="Nunito Sans"/>
              <a:cs typeface="Nunito Sans"/>
              <a:sym typeface="Nunito Sans"/>
            </a:endParaRPr>
          </a:p>
        </p:txBody>
      </p:sp>
      <p:cxnSp>
        <p:nvCxnSpPr>
          <p:cNvPr id="203" name="Google Shape;203;p13"/>
          <p:cNvCxnSpPr/>
          <p:nvPr/>
        </p:nvCxnSpPr>
        <p:spPr>
          <a:xfrm>
            <a:off x="6197600" y="1865561"/>
            <a:ext cx="4978400" cy="0"/>
          </a:xfrm>
          <a:prstGeom prst="straightConnector1">
            <a:avLst/>
          </a:prstGeom>
          <a:noFill/>
          <a:ln cap="flat" cmpd="sng" w="12700">
            <a:solidFill>
              <a:srgbClr val="D3D9DE"/>
            </a:solidFill>
            <a:prstDash val="solid"/>
            <a:round/>
            <a:headEnd len="sm" w="sm" type="none"/>
            <a:tailEnd len="sm" w="sm" type="none"/>
          </a:ln>
        </p:spPr>
      </p:cxnSp>
      <p:sp>
        <p:nvSpPr>
          <p:cNvPr id="204" name="Google Shape;204;p13"/>
          <p:cNvSpPr/>
          <p:nvPr/>
        </p:nvSpPr>
        <p:spPr>
          <a:xfrm>
            <a:off x="6197600" y="199891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78B0"/>
              </a:buClr>
              <a:buSzPts val="4000"/>
              <a:buFont typeface="Nunito Sans"/>
              <a:buNone/>
            </a:pPr>
            <a:r>
              <a:rPr b="0" i="0" lang="en-US" sz="4000" u="none" cap="none" strike="noStrike">
                <a:solidFill>
                  <a:srgbClr val="2F78B0"/>
                </a:solidFill>
                <a:latin typeface="Nunito Sans"/>
                <a:ea typeface="Nunito Sans"/>
                <a:cs typeface="Nunito Sans"/>
                <a:sym typeface="Nunito Sans"/>
              </a:rPr>
              <a:t>19</a:t>
            </a:r>
            <a:endParaRPr b="0" i="0" sz="4000" u="none" cap="none" strike="noStrike">
              <a:solidFill>
                <a:schemeClr val="dk1"/>
              </a:solidFill>
              <a:latin typeface="Nunito Sans"/>
              <a:ea typeface="Nunito Sans"/>
              <a:cs typeface="Nunito Sans"/>
              <a:sym typeface="Nunito Sans"/>
            </a:endParaRPr>
          </a:p>
        </p:txBody>
      </p:sp>
      <p:sp>
        <p:nvSpPr>
          <p:cNvPr id="205" name="Google Shape;205;p13"/>
          <p:cNvSpPr/>
          <p:nvPr/>
        </p:nvSpPr>
        <p:spPr>
          <a:xfrm>
            <a:off x="6197600" y="254501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trials mention it; 14 have no drug phase</a:t>
            </a:r>
            <a:endParaRPr b="0" i="0" sz="1200" u="none" cap="none" strike="noStrike">
              <a:solidFill>
                <a:schemeClr val="dk1"/>
              </a:solidFill>
              <a:latin typeface="Nunito Sans"/>
              <a:ea typeface="Nunito Sans"/>
              <a:cs typeface="Nunito Sans"/>
              <a:sym typeface="Nunito Sans"/>
            </a:endParaRPr>
          </a:p>
        </p:txBody>
      </p:sp>
      <p:cxnSp>
        <p:nvCxnSpPr>
          <p:cNvPr id="206" name="Google Shape;206;p13"/>
          <p:cNvCxnSpPr/>
          <p:nvPr/>
        </p:nvCxnSpPr>
        <p:spPr>
          <a:xfrm>
            <a:off x="1016000" y="2975521"/>
            <a:ext cx="4978400" cy="0"/>
          </a:xfrm>
          <a:prstGeom prst="straightConnector1">
            <a:avLst/>
          </a:prstGeom>
          <a:noFill/>
          <a:ln cap="flat" cmpd="sng" w="12700">
            <a:solidFill>
              <a:srgbClr val="D3D9DE"/>
            </a:solidFill>
            <a:prstDash val="solid"/>
            <a:round/>
            <a:headEnd len="sm" w="sm" type="none"/>
            <a:tailEnd len="sm" w="sm" type="none"/>
          </a:ln>
        </p:spPr>
      </p:cxnSp>
      <p:sp>
        <p:nvSpPr>
          <p:cNvPr id="207" name="Google Shape;207;p13"/>
          <p:cNvSpPr/>
          <p:nvPr/>
        </p:nvSpPr>
        <p:spPr>
          <a:xfrm>
            <a:off x="1016000" y="310887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3867D"/>
              </a:buClr>
              <a:buSzPts val="4000"/>
              <a:buFont typeface="Nunito Sans"/>
              <a:buNone/>
            </a:pPr>
            <a:r>
              <a:rPr b="0" i="0" lang="en-US" sz="4000" u="none" cap="none" strike="noStrike">
                <a:solidFill>
                  <a:srgbClr val="23867D"/>
                </a:solidFill>
                <a:latin typeface="Nunito Sans"/>
                <a:ea typeface="Nunito Sans"/>
                <a:cs typeface="Nunito Sans"/>
                <a:sym typeface="Nunito Sans"/>
              </a:rPr>
              <a:t>0</a:t>
            </a:r>
            <a:endParaRPr b="0" i="0" sz="4000" u="none" cap="none" strike="noStrike">
              <a:solidFill>
                <a:schemeClr val="dk1"/>
              </a:solidFill>
              <a:latin typeface="Nunito Sans"/>
              <a:ea typeface="Nunito Sans"/>
              <a:cs typeface="Nunito Sans"/>
              <a:sym typeface="Nunito Sans"/>
            </a:endParaRPr>
          </a:p>
        </p:txBody>
      </p:sp>
      <p:sp>
        <p:nvSpPr>
          <p:cNvPr id="208" name="Google Shape;208;p13"/>
          <p:cNvSpPr/>
          <p:nvPr/>
        </p:nvSpPr>
        <p:spPr>
          <a:xfrm>
            <a:off x="1016000" y="365497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open Phase 1–4 trials</a:t>
            </a:r>
            <a:endParaRPr b="0" i="0" sz="1200" u="none" cap="none" strike="noStrike">
              <a:solidFill>
                <a:schemeClr val="dk1"/>
              </a:solidFill>
              <a:latin typeface="Nunito Sans"/>
              <a:ea typeface="Nunito Sans"/>
              <a:cs typeface="Nunito Sans"/>
              <a:sym typeface="Nunito Sans"/>
            </a:endParaRPr>
          </a:p>
        </p:txBody>
      </p:sp>
      <p:cxnSp>
        <p:nvCxnSpPr>
          <p:cNvPr id="209" name="Google Shape;209;p13"/>
          <p:cNvCxnSpPr/>
          <p:nvPr/>
        </p:nvCxnSpPr>
        <p:spPr>
          <a:xfrm>
            <a:off x="6197600" y="2975521"/>
            <a:ext cx="4978400" cy="0"/>
          </a:xfrm>
          <a:prstGeom prst="straightConnector1">
            <a:avLst/>
          </a:prstGeom>
          <a:noFill/>
          <a:ln cap="flat" cmpd="sng" w="12700">
            <a:solidFill>
              <a:srgbClr val="D3D9DE"/>
            </a:solidFill>
            <a:prstDash val="solid"/>
            <a:round/>
            <a:headEnd len="sm" w="sm" type="none"/>
            <a:tailEnd len="sm" w="sm" type="none"/>
          </a:ln>
        </p:spPr>
      </p:cxnSp>
      <p:sp>
        <p:nvSpPr>
          <p:cNvPr id="210" name="Google Shape;210;p13"/>
          <p:cNvSpPr/>
          <p:nvPr/>
        </p:nvSpPr>
        <p:spPr>
          <a:xfrm>
            <a:off x="6197600" y="3108871"/>
            <a:ext cx="5127752"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78B0"/>
              </a:buClr>
              <a:buSzPts val="4000"/>
              <a:buFont typeface="Nunito Sans"/>
              <a:buNone/>
            </a:pPr>
            <a:r>
              <a:rPr b="0" i="0" lang="en-US" sz="4000" u="none" cap="none" strike="noStrike">
                <a:solidFill>
                  <a:srgbClr val="2F78B0"/>
                </a:solidFill>
                <a:latin typeface="Nunito Sans"/>
                <a:ea typeface="Nunito Sans"/>
                <a:cs typeface="Nunito Sans"/>
                <a:sym typeface="Nunito Sans"/>
              </a:rPr>
              <a:t>6 of 9</a:t>
            </a:r>
            <a:endParaRPr b="0" i="0" sz="4000" u="none" cap="none" strike="noStrike">
              <a:solidFill>
                <a:schemeClr val="dk1"/>
              </a:solidFill>
              <a:latin typeface="Nunito Sans"/>
              <a:ea typeface="Nunito Sans"/>
              <a:cs typeface="Nunito Sans"/>
              <a:sym typeface="Nunito Sans"/>
            </a:endParaRPr>
          </a:p>
        </p:txBody>
      </p:sp>
      <p:sp>
        <p:nvSpPr>
          <p:cNvPr id="211" name="Google Shape;211;p13"/>
          <p:cNvSpPr/>
          <p:nvPr/>
        </p:nvSpPr>
        <p:spPr>
          <a:xfrm>
            <a:off x="6197600" y="3654971"/>
            <a:ext cx="5127752" cy="2463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200"/>
              <a:buFont typeface="Nunito Sans"/>
              <a:buNone/>
            </a:pPr>
            <a:r>
              <a:rPr b="0" i="0" lang="en-US" sz="1200" u="none" cap="none" strike="noStrike">
                <a:solidFill>
                  <a:srgbClr val="5B6670"/>
                </a:solidFill>
                <a:latin typeface="Nunito Sans"/>
                <a:ea typeface="Nunito Sans"/>
                <a:cs typeface="Nunito Sans"/>
                <a:sym typeface="Nunito Sans"/>
              </a:rPr>
              <a:t>AI rows not specific to this variant</a:t>
            </a:r>
            <a:endParaRPr b="0" i="0" sz="1200" u="none" cap="none" strike="noStrike">
              <a:solidFill>
                <a:schemeClr val="dk1"/>
              </a:solidFill>
              <a:latin typeface="Nunito Sans"/>
              <a:ea typeface="Nunito Sans"/>
              <a:cs typeface="Nunito Sans"/>
              <a:sym typeface="Nunito Sans"/>
            </a:endParaRPr>
          </a:p>
        </p:txBody>
      </p:sp>
      <p:sp>
        <p:nvSpPr>
          <p:cNvPr id="212" name="Google Shape;212;p13"/>
          <p:cNvSpPr/>
          <p:nvPr/>
        </p:nvSpPr>
        <p:spPr>
          <a:xfrm>
            <a:off x="1019175" y="4082306"/>
            <a:ext cx="10153650" cy="865436"/>
          </a:xfrm>
          <a:prstGeom prst="roundRect">
            <a:avLst>
              <a:gd fmla="val 11373"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3"/>
          <p:cNvSpPr/>
          <p:nvPr/>
        </p:nvSpPr>
        <p:spPr>
          <a:xfrm>
            <a:off x="1200150" y="4263281"/>
            <a:ext cx="100854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WHAT THE CLINICIAN LEARNS</a:t>
            </a:r>
            <a:endParaRPr b="0" i="0" sz="1200" u="none" cap="none" strike="noStrike">
              <a:solidFill>
                <a:schemeClr val="dk1"/>
              </a:solidFill>
              <a:latin typeface="Nunito Sans"/>
              <a:ea typeface="Nunito Sans"/>
              <a:cs typeface="Nunito Sans"/>
              <a:sym typeface="Nunito Sans"/>
            </a:endParaRPr>
          </a:p>
        </p:txBody>
      </p:sp>
      <p:sp>
        <p:nvSpPr>
          <p:cNvPr id="214" name="Google Shape;214;p13"/>
          <p:cNvSpPr/>
          <p:nvPr/>
        </p:nvSpPr>
        <p:spPr>
          <a:xfrm>
            <a:off x="1200150" y="4527401"/>
            <a:ext cx="10085451" cy="26476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300"/>
              <a:buFont typeface="Nunito Sans"/>
              <a:buNone/>
            </a:pPr>
            <a:r>
              <a:rPr b="0" i="0" lang="en-US" sz="1300" u="none" cap="none" strike="noStrike">
                <a:solidFill>
                  <a:srgbClr val="1E2A35"/>
                </a:solidFill>
                <a:latin typeface="Nunito Sans"/>
                <a:ea typeface="Nunito Sans"/>
                <a:cs typeface="Nunito Sans"/>
                <a:sym typeface="Nunito Sans"/>
              </a:rPr>
              <a:t>Probably not why the patient is sick, and no drug trial to enroll in. Its completed Phase 2 trials are there to read.</a:t>
            </a:r>
            <a:endParaRPr b="0" i="0" sz="1300" u="none" cap="none" strike="noStrike">
              <a:solidFill>
                <a:schemeClr val="dk1"/>
              </a:solidFill>
              <a:latin typeface="Nunito Sans"/>
              <a:ea typeface="Nunito Sans"/>
              <a:cs typeface="Nunito Sans"/>
              <a:sym typeface="Nunito Sans"/>
            </a:endParaRPr>
          </a:p>
        </p:txBody>
      </p:sp>
      <p:sp>
        <p:nvSpPr>
          <p:cNvPr id="215" name="Google Shape;215;p13"/>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7</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preencoded.png" id="221" name="Google Shape;221;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2" name="Google Shape;222;p14"/>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WHY THIS MATTERS</a:t>
            </a:r>
            <a:endParaRPr b="0" i="0" sz="1200" u="none" cap="none" strike="noStrike">
              <a:solidFill>
                <a:schemeClr val="dk1"/>
              </a:solidFill>
              <a:latin typeface="Nunito Sans"/>
              <a:ea typeface="Nunito Sans"/>
              <a:cs typeface="Nunito Sans"/>
              <a:sym typeface="Nunito Sans"/>
            </a:endParaRPr>
          </a:p>
        </p:txBody>
      </p:sp>
      <p:sp>
        <p:nvSpPr>
          <p:cNvPr id="224" name="Google Shape;224;p14"/>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1" i="0" lang="en-US" sz="3000">
                <a:solidFill>
                  <a:srgbClr val="2F78B0"/>
                </a:solidFill>
                <a:latin typeface="Nunito Sans"/>
                <a:ea typeface="Nunito Sans"/>
                <a:cs typeface="Nunito Sans"/>
                <a:sym typeface="Nunito Sans"/>
              </a:rPr>
              <a:t>The trial phase</a:t>
            </a:r>
            <a:r>
              <a:rPr b="0" i="0" lang="en-US" sz="3000">
                <a:solidFill>
                  <a:srgbClr val="2F78B0"/>
                </a:solidFill>
                <a:latin typeface="Nunito Sans"/>
                <a:ea typeface="Nunito Sans"/>
                <a:cs typeface="Nunito Sans"/>
                <a:sym typeface="Nunito Sans"/>
              </a:rPr>
              <a:t> tells the doctor what to do</a:t>
            </a:r>
            <a:endParaRPr sz="3000"/>
          </a:p>
        </p:txBody>
      </p:sp>
      <p:cxnSp>
        <p:nvCxnSpPr>
          <p:cNvPr id="225" name="Google Shape;225;p14"/>
          <p:cNvCxnSpPr/>
          <p:nvPr/>
        </p:nvCxnSpPr>
        <p:spPr>
          <a:xfrm>
            <a:off x="1016000" y="1913186"/>
            <a:ext cx="10160000" cy="0"/>
          </a:xfrm>
          <a:prstGeom prst="straightConnector1">
            <a:avLst/>
          </a:prstGeom>
          <a:noFill/>
          <a:ln cap="flat" cmpd="sng" w="9525">
            <a:solidFill>
              <a:srgbClr val="D3D9DE"/>
            </a:solidFill>
            <a:prstDash val="solid"/>
            <a:round/>
            <a:headEnd len="sm" w="sm" type="none"/>
            <a:tailEnd len="sm" w="sm" type="none"/>
          </a:ln>
        </p:spPr>
      </p:cxnSp>
      <p:sp>
        <p:nvSpPr>
          <p:cNvPr id="226" name="Google Shape;226;p14"/>
          <p:cNvSpPr/>
          <p:nvPr/>
        </p:nvSpPr>
        <p:spPr>
          <a:xfrm>
            <a:off x="1016000" y="2030661"/>
            <a:ext cx="235458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6E67"/>
              </a:buClr>
              <a:buSzPts val="1400"/>
              <a:buFont typeface="Nunito Sans"/>
              <a:buNone/>
            </a:pPr>
            <a:r>
              <a:rPr b="1" i="0" lang="en-US" sz="1400" u="none" cap="none" strike="noStrike">
                <a:solidFill>
                  <a:srgbClr val="1D6E67"/>
                </a:solidFill>
                <a:latin typeface="Nunito Sans"/>
                <a:ea typeface="Nunito Sans"/>
                <a:cs typeface="Nunito Sans"/>
                <a:sym typeface="Nunito Sans"/>
              </a:rPr>
              <a:t>Recruiting · Phase 2–3</a:t>
            </a:r>
            <a:endParaRPr b="0" i="0" sz="1400" u="none" cap="none" strike="noStrike">
              <a:solidFill>
                <a:schemeClr val="dk1"/>
              </a:solidFill>
              <a:latin typeface="Nunito Sans"/>
              <a:ea typeface="Nunito Sans"/>
              <a:cs typeface="Nunito Sans"/>
              <a:sym typeface="Nunito Sans"/>
            </a:endParaRPr>
          </a:p>
        </p:txBody>
      </p:sp>
      <p:sp>
        <p:nvSpPr>
          <p:cNvPr id="227" name="Google Shape;227;p14"/>
          <p:cNvSpPr/>
          <p:nvPr/>
        </p:nvSpPr>
        <p:spPr>
          <a:xfrm>
            <a:off x="3505200" y="2043361"/>
            <a:ext cx="790092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Early evidence the drug works: refer the patient to enroll.</a:t>
            </a:r>
            <a:endParaRPr b="0" i="0" sz="1300" u="none" cap="none" strike="noStrike">
              <a:solidFill>
                <a:schemeClr val="dk1"/>
              </a:solidFill>
              <a:latin typeface="Nunito Sans"/>
              <a:ea typeface="Nunito Sans"/>
              <a:cs typeface="Nunito Sans"/>
              <a:sym typeface="Nunito Sans"/>
            </a:endParaRPr>
          </a:p>
        </p:txBody>
      </p:sp>
      <p:cxnSp>
        <p:nvCxnSpPr>
          <p:cNvPr id="228" name="Google Shape;228;p14"/>
          <p:cNvCxnSpPr/>
          <p:nvPr/>
        </p:nvCxnSpPr>
        <p:spPr>
          <a:xfrm>
            <a:off x="1016000" y="2397026"/>
            <a:ext cx="10160000" cy="0"/>
          </a:xfrm>
          <a:prstGeom prst="straightConnector1">
            <a:avLst/>
          </a:prstGeom>
          <a:noFill/>
          <a:ln cap="flat" cmpd="sng" w="9525">
            <a:solidFill>
              <a:srgbClr val="D3D9DE"/>
            </a:solidFill>
            <a:prstDash val="solid"/>
            <a:round/>
            <a:headEnd len="sm" w="sm" type="none"/>
            <a:tailEnd len="sm" w="sm" type="none"/>
          </a:ln>
        </p:spPr>
      </p:cxnSp>
      <p:sp>
        <p:nvSpPr>
          <p:cNvPr id="229" name="Google Shape;229;p14"/>
          <p:cNvSpPr/>
          <p:nvPr/>
        </p:nvSpPr>
        <p:spPr>
          <a:xfrm>
            <a:off x="1016000" y="2514501"/>
            <a:ext cx="235458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6E67"/>
              </a:buClr>
              <a:buSzPts val="1400"/>
              <a:buFont typeface="Nunito Sans"/>
              <a:buNone/>
            </a:pPr>
            <a:r>
              <a:rPr b="1" i="0" lang="en-US" sz="1400" u="none" cap="none" strike="noStrike">
                <a:solidFill>
                  <a:srgbClr val="1D6E67"/>
                </a:solidFill>
                <a:latin typeface="Nunito Sans"/>
                <a:ea typeface="Nunito Sans"/>
                <a:cs typeface="Nunito Sans"/>
                <a:sym typeface="Nunito Sans"/>
              </a:rPr>
              <a:t>Recruiting · Phase 1</a:t>
            </a:r>
            <a:endParaRPr b="0" i="0" sz="1400" u="none" cap="none" strike="noStrike">
              <a:solidFill>
                <a:schemeClr val="dk1"/>
              </a:solidFill>
              <a:latin typeface="Nunito Sans"/>
              <a:ea typeface="Nunito Sans"/>
              <a:cs typeface="Nunito Sans"/>
              <a:sym typeface="Nunito Sans"/>
            </a:endParaRPr>
          </a:p>
        </p:txBody>
      </p:sp>
      <p:sp>
        <p:nvSpPr>
          <p:cNvPr id="230" name="Google Shape;230;p14"/>
          <p:cNvSpPr/>
          <p:nvPr/>
        </p:nvSpPr>
        <p:spPr>
          <a:xfrm>
            <a:off x="3505200" y="2527201"/>
            <a:ext cx="790092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Safety and dose testing: an option when standard care runs out.</a:t>
            </a:r>
            <a:endParaRPr b="0" i="0" sz="1300" u="none" cap="none" strike="noStrike">
              <a:solidFill>
                <a:schemeClr val="dk1"/>
              </a:solidFill>
              <a:latin typeface="Nunito Sans"/>
              <a:ea typeface="Nunito Sans"/>
              <a:cs typeface="Nunito Sans"/>
              <a:sym typeface="Nunito Sans"/>
            </a:endParaRPr>
          </a:p>
        </p:txBody>
      </p:sp>
      <p:cxnSp>
        <p:nvCxnSpPr>
          <p:cNvPr id="231" name="Google Shape;231;p14"/>
          <p:cNvCxnSpPr/>
          <p:nvPr/>
        </p:nvCxnSpPr>
        <p:spPr>
          <a:xfrm>
            <a:off x="1016000" y="2880866"/>
            <a:ext cx="10160000" cy="0"/>
          </a:xfrm>
          <a:prstGeom prst="straightConnector1">
            <a:avLst/>
          </a:prstGeom>
          <a:noFill/>
          <a:ln cap="flat" cmpd="sng" w="9525">
            <a:solidFill>
              <a:srgbClr val="D3D9DE"/>
            </a:solidFill>
            <a:prstDash val="solid"/>
            <a:round/>
            <a:headEnd len="sm" w="sm" type="none"/>
            <a:tailEnd len="sm" w="sm" type="none"/>
          </a:ln>
        </p:spPr>
      </p:cxnSp>
      <p:sp>
        <p:nvSpPr>
          <p:cNvPr id="232" name="Google Shape;232;p14"/>
          <p:cNvSpPr/>
          <p:nvPr/>
        </p:nvSpPr>
        <p:spPr>
          <a:xfrm>
            <a:off x="1016000" y="2998341"/>
            <a:ext cx="235458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Completed, with results</a:t>
            </a:r>
            <a:endParaRPr b="0" i="0" sz="1400" u="none" cap="none" strike="noStrike">
              <a:solidFill>
                <a:schemeClr val="dk1"/>
              </a:solidFill>
              <a:latin typeface="Nunito Sans"/>
              <a:ea typeface="Nunito Sans"/>
              <a:cs typeface="Nunito Sans"/>
              <a:sym typeface="Nunito Sans"/>
            </a:endParaRPr>
          </a:p>
        </p:txBody>
      </p:sp>
      <p:sp>
        <p:nvSpPr>
          <p:cNvPr id="233" name="Google Shape;233;p14"/>
          <p:cNvSpPr/>
          <p:nvPr/>
        </p:nvSpPr>
        <p:spPr>
          <a:xfrm>
            <a:off x="3505200" y="3011041"/>
            <a:ext cx="790092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Findings to weigh treatment options, including what didn't work.</a:t>
            </a:r>
            <a:endParaRPr b="0" i="0" sz="1300" u="none" cap="none" strike="noStrike">
              <a:solidFill>
                <a:schemeClr val="dk1"/>
              </a:solidFill>
              <a:latin typeface="Nunito Sans"/>
              <a:ea typeface="Nunito Sans"/>
              <a:cs typeface="Nunito Sans"/>
              <a:sym typeface="Nunito Sans"/>
            </a:endParaRPr>
          </a:p>
        </p:txBody>
      </p:sp>
      <p:cxnSp>
        <p:nvCxnSpPr>
          <p:cNvPr id="234" name="Google Shape;234;p14"/>
          <p:cNvCxnSpPr/>
          <p:nvPr/>
        </p:nvCxnSpPr>
        <p:spPr>
          <a:xfrm>
            <a:off x="1016000" y="3364706"/>
            <a:ext cx="10160000" cy="0"/>
          </a:xfrm>
          <a:prstGeom prst="straightConnector1">
            <a:avLst/>
          </a:prstGeom>
          <a:noFill/>
          <a:ln cap="flat" cmpd="sng" w="9525">
            <a:solidFill>
              <a:srgbClr val="D3D9DE"/>
            </a:solidFill>
            <a:prstDash val="solid"/>
            <a:round/>
            <a:headEnd len="sm" w="sm" type="none"/>
            <a:tailEnd len="sm" w="sm" type="none"/>
          </a:ln>
        </p:spPr>
      </p:cxnSp>
      <p:sp>
        <p:nvSpPr>
          <p:cNvPr id="235" name="Google Shape;235;p14"/>
          <p:cNvSpPr/>
          <p:nvPr/>
        </p:nvSpPr>
        <p:spPr>
          <a:xfrm>
            <a:off x="1016000" y="3482181"/>
            <a:ext cx="235458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Observational only</a:t>
            </a:r>
            <a:endParaRPr b="0" i="0" sz="1400" u="none" cap="none" strike="noStrike">
              <a:solidFill>
                <a:schemeClr val="dk1"/>
              </a:solidFill>
              <a:latin typeface="Nunito Sans"/>
              <a:ea typeface="Nunito Sans"/>
              <a:cs typeface="Nunito Sans"/>
              <a:sym typeface="Nunito Sans"/>
            </a:endParaRPr>
          </a:p>
        </p:txBody>
      </p:sp>
      <p:sp>
        <p:nvSpPr>
          <p:cNvPr id="236" name="Google Shape;236;p14"/>
          <p:cNvSpPr/>
          <p:nvPr/>
        </p:nvSpPr>
        <p:spPr>
          <a:xfrm>
            <a:off x="3505200" y="3494881"/>
            <a:ext cx="790092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Studies of the disease, not a treatment: nothing to try yet.</a:t>
            </a:r>
            <a:endParaRPr b="0" i="0" sz="1300" u="none" cap="none" strike="noStrike">
              <a:solidFill>
                <a:schemeClr val="dk1"/>
              </a:solidFill>
              <a:latin typeface="Nunito Sans"/>
              <a:ea typeface="Nunito Sans"/>
              <a:cs typeface="Nunito Sans"/>
              <a:sym typeface="Nunito Sans"/>
            </a:endParaRPr>
          </a:p>
        </p:txBody>
      </p:sp>
      <p:cxnSp>
        <p:nvCxnSpPr>
          <p:cNvPr id="237" name="Google Shape;237;p14"/>
          <p:cNvCxnSpPr/>
          <p:nvPr/>
        </p:nvCxnSpPr>
        <p:spPr>
          <a:xfrm>
            <a:off x="1016000" y="3848546"/>
            <a:ext cx="10160000" cy="0"/>
          </a:xfrm>
          <a:prstGeom prst="straightConnector1">
            <a:avLst/>
          </a:prstGeom>
          <a:noFill/>
          <a:ln cap="flat" cmpd="sng" w="9525">
            <a:solidFill>
              <a:srgbClr val="D3D9DE"/>
            </a:solidFill>
            <a:prstDash val="solid"/>
            <a:round/>
            <a:headEnd len="sm" w="sm" type="none"/>
            <a:tailEnd len="sm" w="sm" type="none"/>
          </a:ln>
        </p:spPr>
      </p:cxnSp>
      <p:sp>
        <p:nvSpPr>
          <p:cNvPr id="238" name="Google Shape;238;p14"/>
          <p:cNvSpPr/>
          <p:nvPr/>
        </p:nvSpPr>
        <p:spPr>
          <a:xfrm>
            <a:off x="1016000" y="4105721"/>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23867D"/>
              </a:buClr>
              <a:buSzPts val="1400"/>
              <a:buFont typeface="Nunito Sans"/>
              <a:buNone/>
            </a:pPr>
            <a:r>
              <a:rPr b="0" i="0" lang="en-US" sz="1400" u="none" cap="none" strike="noStrike">
                <a:solidFill>
                  <a:srgbClr val="23867D"/>
                </a:solidFill>
                <a:latin typeface="Nunito Sans"/>
                <a:ea typeface="Nunito Sans"/>
                <a:cs typeface="Nunito Sans"/>
                <a:sym typeface="Nunito Sans"/>
              </a:rPr>
              <a:t>Geknowme shows every trial's phase and status, with a filter for trials open to enrollment.</a:t>
            </a:r>
            <a:endParaRPr b="0" i="0" sz="1400" u="none" cap="none" strike="noStrike">
              <a:solidFill>
                <a:schemeClr val="dk1"/>
              </a:solidFill>
              <a:latin typeface="Nunito Sans"/>
              <a:ea typeface="Nunito Sans"/>
              <a:cs typeface="Nunito Sans"/>
              <a:sym typeface="Nunito Sans"/>
            </a:endParaRPr>
          </a:p>
        </p:txBody>
      </p:sp>
      <p:sp>
        <p:nvSpPr>
          <p:cNvPr id="239" name="Google Shape;239;p14"/>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8</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preencoded.png" id="245" name="Google Shape;245;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6" name="Google Shape;246;p15"/>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HOW WE COMPARE</a:t>
            </a:r>
            <a:endParaRPr b="0" i="0" sz="1200" u="none" cap="none" strike="noStrike">
              <a:solidFill>
                <a:schemeClr val="dk1"/>
              </a:solidFill>
              <a:latin typeface="Nunito Sans"/>
              <a:ea typeface="Nunito Sans"/>
              <a:cs typeface="Nunito Sans"/>
              <a:sym typeface="Nunito Sans"/>
            </a:endParaRPr>
          </a:p>
        </p:txBody>
      </p:sp>
      <p:sp>
        <p:nvSpPr>
          <p:cNvPr id="248" name="Google Shape;248;p15"/>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0" i="0" lang="en-US" sz="3000">
                <a:solidFill>
                  <a:srgbClr val="2F78B0"/>
                </a:solidFill>
                <a:latin typeface="Nunito Sans"/>
                <a:ea typeface="Nunito Sans"/>
                <a:cs typeface="Nunito Sans"/>
                <a:sym typeface="Nunito Sans"/>
              </a:rPr>
              <a:t>Built for </a:t>
            </a:r>
            <a:r>
              <a:rPr b="1" i="0" lang="en-US" sz="3000">
                <a:solidFill>
                  <a:srgbClr val="2F78B0"/>
                </a:solidFill>
                <a:latin typeface="Nunito Sans"/>
                <a:ea typeface="Nunito Sans"/>
                <a:cs typeface="Nunito Sans"/>
                <a:sym typeface="Nunito Sans"/>
              </a:rPr>
              <a:t>professionals and patients</a:t>
            </a:r>
            <a:r>
              <a:rPr b="0" i="0" lang="en-US" sz="3000">
                <a:solidFill>
                  <a:srgbClr val="2F78B0"/>
                </a:solidFill>
                <a:latin typeface="Nunito Sans"/>
                <a:ea typeface="Nunito Sans"/>
                <a:cs typeface="Nunito Sans"/>
                <a:sym typeface="Nunito Sans"/>
              </a:rPr>
              <a:t>, not drug pipelines</a:t>
            </a:r>
            <a:endParaRPr sz="3000"/>
          </a:p>
        </p:txBody>
      </p:sp>
      <p:sp>
        <p:nvSpPr>
          <p:cNvPr id="249" name="Google Shape;249;p15"/>
          <p:cNvSpPr/>
          <p:nvPr/>
        </p:nvSpPr>
        <p:spPr>
          <a:xfrm>
            <a:off x="1016000" y="1910011"/>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400"/>
              <a:buFont typeface="Nunito Sans"/>
              <a:buNone/>
            </a:pPr>
            <a:r>
              <a:rPr b="0" i="0" lang="en-US" sz="1400" u="none" cap="none" strike="noStrike">
                <a:solidFill>
                  <a:srgbClr val="5B6670"/>
                </a:solidFill>
                <a:latin typeface="Nunito Sans"/>
                <a:ea typeface="Nunito Sans"/>
                <a:cs typeface="Nunito Sans"/>
                <a:sym typeface="Nunito Sans"/>
              </a:rPr>
              <a:t>Most clinical trial platforms help sponsors run trials and get drugs through the process:</a:t>
            </a:r>
            <a:endParaRPr b="0" i="0" sz="1400" u="none" cap="none" strike="noStrike">
              <a:solidFill>
                <a:schemeClr val="dk1"/>
              </a:solidFill>
              <a:latin typeface="Nunito Sans"/>
              <a:ea typeface="Nunito Sans"/>
              <a:cs typeface="Nunito Sans"/>
              <a:sym typeface="Nunito Sans"/>
            </a:endParaRPr>
          </a:p>
        </p:txBody>
      </p:sp>
      <p:cxnSp>
        <p:nvCxnSpPr>
          <p:cNvPr id="250" name="Google Shape;250;p15"/>
          <p:cNvCxnSpPr/>
          <p:nvPr/>
        </p:nvCxnSpPr>
        <p:spPr>
          <a:xfrm>
            <a:off x="1016000" y="2424956"/>
            <a:ext cx="10160000" cy="0"/>
          </a:xfrm>
          <a:prstGeom prst="straightConnector1">
            <a:avLst/>
          </a:prstGeom>
          <a:noFill/>
          <a:ln cap="flat" cmpd="sng" w="9525">
            <a:solidFill>
              <a:srgbClr val="D3D9DE"/>
            </a:solidFill>
            <a:prstDash val="solid"/>
            <a:round/>
            <a:headEnd len="sm" w="sm" type="none"/>
            <a:tailEnd len="sm" w="sm" type="none"/>
          </a:ln>
        </p:spPr>
      </p:cxnSp>
      <p:sp>
        <p:nvSpPr>
          <p:cNvPr id="251" name="Google Shape;251;p15"/>
          <p:cNvSpPr/>
          <p:nvPr/>
        </p:nvSpPr>
        <p:spPr>
          <a:xfrm>
            <a:off x="1016000" y="2542431"/>
            <a:ext cx="235458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Citeline Trialtrove</a:t>
            </a:r>
            <a:endParaRPr b="0" i="0" sz="1400" u="none" cap="none" strike="noStrike">
              <a:solidFill>
                <a:schemeClr val="dk1"/>
              </a:solidFill>
              <a:latin typeface="Nunito Sans"/>
              <a:ea typeface="Nunito Sans"/>
              <a:cs typeface="Nunito Sans"/>
              <a:sym typeface="Nunito Sans"/>
            </a:endParaRPr>
          </a:p>
        </p:txBody>
      </p:sp>
      <p:sp>
        <p:nvSpPr>
          <p:cNvPr id="252" name="Google Shape;252;p15"/>
          <p:cNvSpPr/>
          <p:nvPr/>
        </p:nvSpPr>
        <p:spPr>
          <a:xfrm>
            <a:off x="3505200" y="2555131"/>
            <a:ext cx="790092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Trial strategy and competitor benchmarking for pharma</a:t>
            </a:r>
            <a:endParaRPr b="0" i="0" sz="1300" u="none" cap="none" strike="noStrike">
              <a:solidFill>
                <a:schemeClr val="dk1"/>
              </a:solidFill>
              <a:latin typeface="Nunito Sans"/>
              <a:ea typeface="Nunito Sans"/>
              <a:cs typeface="Nunito Sans"/>
              <a:sym typeface="Nunito Sans"/>
            </a:endParaRPr>
          </a:p>
        </p:txBody>
      </p:sp>
      <p:cxnSp>
        <p:nvCxnSpPr>
          <p:cNvPr id="253" name="Google Shape;253;p15"/>
          <p:cNvCxnSpPr/>
          <p:nvPr/>
        </p:nvCxnSpPr>
        <p:spPr>
          <a:xfrm>
            <a:off x="1016000" y="2908796"/>
            <a:ext cx="10160000" cy="0"/>
          </a:xfrm>
          <a:prstGeom prst="straightConnector1">
            <a:avLst/>
          </a:prstGeom>
          <a:noFill/>
          <a:ln cap="flat" cmpd="sng" w="9525">
            <a:solidFill>
              <a:srgbClr val="D3D9DE"/>
            </a:solidFill>
            <a:prstDash val="solid"/>
            <a:round/>
            <a:headEnd len="sm" w="sm" type="none"/>
            <a:tailEnd len="sm" w="sm" type="none"/>
          </a:ln>
        </p:spPr>
      </p:cxnSp>
      <p:sp>
        <p:nvSpPr>
          <p:cNvPr id="254" name="Google Shape;254;p15"/>
          <p:cNvSpPr/>
          <p:nvPr/>
        </p:nvSpPr>
        <p:spPr>
          <a:xfrm>
            <a:off x="1016000" y="3026271"/>
            <a:ext cx="235458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Medidata, Veeva</a:t>
            </a:r>
            <a:endParaRPr b="0" i="0" sz="1400" u="none" cap="none" strike="noStrike">
              <a:solidFill>
                <a:schemeClr val="dk1"/>
              </a:solidFill>
              <a:latin typeface="Nunito Sans"/>
              <a:ea typeface="Nunito Sans"/>
              <a:cs typeface="Nunito Sans"/>
              <a:sym typeface="Nunito Sans"/>
            </a:endParaRPr>
          </a:p>
        </p:txBody>
      </p:sp>
      <p:sp>
        <p:nvSpPr>
          <p:cNvPr id="255" name="Google Shape;255;p15"/>
          <p:cNvSpPr/>
          <p:nvPr/>
        </p:nvSpPr>
        <p:spPr>
          <a:xfrm>
            <a:off x="3505200" y="3038971"/>
            <a:ext cx="790092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Software to run trials: data capture and trial management</a:t>
            </a:r>
            <a:endParaRPr b="0" i="0" sz="1300" u="none" cap="none" strike="noStrike">
              <a:solidFill>
                <a:schemeClr val="dk1"/>
              </a:solidFill>
              <a:latin typeface="Nunito Sans"/>
              <a:ea typeface="Nunito Sans"/>
              <a:cs typeface="Nunito Sans"/>
              <a:sym typeface="Nunito Sans"/>
            </a:endParaRPr>
          </a:p>
        </p:txBody>
      </p:sp>
      <p:cxnSp>
        <p:nvCxnSpPr>
          <p:cNvPr id="256" name="Google Shape;256;p15"/>
          <p:cNvCxnSpPr/>
          <p:nvPr/>
        </p:nvCxnSpPr>
        <p:spPr>
          <a:xfrm>
            <a:off x="1016000" y="3392636"/>
            <a:ext cx="10160000" cy="0"/>
          </a:xfrm>
          <a:prstGeom prst="straightConnector1">
            <a:avLst/>
          </a:prstGeom>
          <a:noFill/>
          <a:ln cap="flat" cmpd="sng" w="9525">
            <a:solidFill>
              <a:srgbClr val="D3D9DE"/>
            </a:solidFill>
            <a:prstDash val="solid"/>
            <a:round/>
            <a:headEnd len="sm" w="sm" type="none"/>
            <a:tailEnd len="sm" w="sm" type="none"/>
          </a:ln>
        </p:spPr>
      </p:cxnSp>
      <p:sp>
        <p:nvSpPr>
          <p:cNvPr id="257" name="Google Shape;257;p15"/>
          <p:cNvSpPr/>
          <p:nvPr/>
        </p:nvSpPr>
        <p:spPr>
          <a:xfrm>
            <a:off x="1016000" y="3510111"/>
            <a:ext cx="235458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E2A35"/>
              </a:buClr>
              <a:buSzPts val="1400"/>
              <a:buFont typeface="Nunito Sans"/>
              <a:buNone/>
            </a:pPr>
            <a:r>
              <a:rPr b="1" i="0" lang="en-US" sz="1400" u="none" cap="none" strike="noStrike">
                <a:solidFill>
                  <a:srgbClr val="1E2A35"/>
                </a:solidFill>
                <a:latin typeface="Nunito Sans"/>
                <a:ea typeface="Nunito Sans"/>
                <a:cs typeface="Nunito Sans"/>
                <a:sym typeface="Nunito Sans"/>
              </a:rPr>
              <a:t>IQVIA</a:t>
            </a:r>
            <a:endParaRPr b="0" i="0" sz="1400" u="none" cap="none" strike="noStrike">
              <a:solidFill>
                <a:schemeClr val="dk1"/>
              </a:solidFill>
              <a:latin typeface="Nunito Sans"/>
              <a:ea typeface="Nunito Sans"/>
              <a:cs typeface="Nunito Sans"/>
              <a:sym typeface="Nunito Sans"/>
            </a:endParaRPr>
          </a:p>
        </p:txBody>
      </p:sp>
      <p:sp>
        <p:nvSpPr>
          <p:cNvPr id="258" name="Google Shape;258;p15"/>
          <p:cNvSpPr/>
          <p:nvPr/>
        </p:nvSpPr>
        <p:spPr>
          <a:xfrm>
            <a:off x="3505200" y="3522811"/>
            <a:ext cx="790092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670"/>
              </a:buClr>
              <a:buSzPts val="1300"/>
              <a:buFont typeface="Nunito Sans"/>
              <a:buNone/>
            </a:pPr>
            <a:r>
              <a:rPr b="0" i="0" lang="en-US" sz="1300" u="none" cap="none" strike="noStrike">
                <a:solidFill>
                  <a:srgbClr val="5B6670"/>
                </a:solidFill>
                <a:latin typeface="Nunito Sans"/>
                <a:ea typeface="Nunito Sans"/>
                <a:cs typeface="Nunito Sans"/>
                <a:sym typeface="Nunito Sans"/>
              </a:rPr>
              <a:t>Trial operations and site selection for sponsors</a:t>
            </a:r>
            <a:endParaRPr b="0" i="0" sz="1300" u="none" cap="none" strike="noStrike">
              <a:solidFill>
                <a:schemeClr val="dk1"/>
              </a:solidFill>
              <a:latin typeface="Nunito Sans"/>
              <a:ea typeface="Nunito Sans"/>
              <a:cs typeface="Nunito Sans"/>
              <a:sym typeface="Nunito Sans"/>
            </a:endParaRPr>
          </a:p>
        </p:txBody>
      </p:sp>
      <p:cxnSp>
        <p:nvCxnSpPr>
          <p:cNvPr id="259" name="Google Shape;259;p15"/>
          <p:cNvCxnSpPr/>
          <p:nvPr/>
        </p:nvCxnSpPr>
        <p:spPr>
          <a:xfrm>
            <a:off x="1016000" y="3876477"/>
            <a:ext cx="10160000" cy="0"/>
          </a:xfrm>
          <a:prstGeom prst="straightConnector1">
            <a:avLst/>
          </a:prstGeom>
          <a:noFill/>
          <a:ln cap="flat" cmpd="sng" w="9525">
            <a:solidFill>
              <a:srgbClr val="D3D9DE"/>
            </a:solidFill>
            <a:prstDash val="solid"/>
            <a:round/>
            <a:headEnd len="sm" w="sm" type="none"/>
            <a:tailEnd len="sm" w="sm" type="none"/>
          </a:ln>
        </p:spPr>
      </p:cxnSp>
      <p:sp>
        <p:nvSpPr>
          <p:cNvPr id="260" name="Google Shape;260;p15"/>
          <p:cNvSpPr/>
          <p:nvPr/>
        </p:nvSpPr>
        <p:spPr>
          <a:xfrm>
            <a:off x="1016000" y="4393652"/>
            <a:ext cx="10160000" cy="921941"/>
          </a:xfrm>
          <a:prstGeom prst="roundRect">
            <a:avLst>
              <a:gd fmla="val 11020" name="adj"/>
            </a:avLst>
          </a:prstGeom>
          <a:gradFill>
            <a:gsLst>
              <a:gs pos="0">
                <a:srgbClr val="2F78B0"/>
              </a:gs>
              <a:gs pos="100000">
                <a:srgbClr val="23867D"/>
              </a:gs>
            </a:gsLst>
            <a:lin ang="2700000" scaled="0"/>
          </a:gradFill>
          <a:ln>
            <a:noFill/>
          </a:ln>
        </p:spPr>
        <p:txBody>
          <a:bodyPr anchorCtr="0" anchor="t" bIns="148025" lIns="173425" spcFirstLastPara="1" rIns="0" wrap="square" tIns="173425">
            <a:noAutofit/>
          </a:bodyPr>
          <a:lstStyle/>
          <a:p>
            <a:pPr indent="0" lvl="0" marL="0" marR="0" rtl="0" algn="l">
              <a:lnSpc>
                <a:spcPct val="145000"/>
              </a:lnSpc>
              <a:spcBef>
                <a:spcPts val="0"/>
              </a:spcBef>
              <a:spcAft>
                <a:spcPts val="0"/>
              </a:spcAft>
              <a:buClr>
                <a:srgbClr val="FFFFFF"/>
              </a:buClr>
              <a:buSzPts val="1400"/>
              <a:buFont typeface="Nunito Sans"/>
              <a:buNone/>
            </a:pPr>
            <a:r>
              <a:rPr b="1" i="0" lang="en-US" sz="1400" u="none" cap="none" strike="noStrike">
                <a:solidFill>
                  <a:srgbClr val="FFFFFF"/>
                </a:solidFill>
                <a:latin typeface="Nunito Sans"/>
                <a:ea typeface="Nunito Sans"/>
                <a:cs typeface="Nunito Sans"/>
                <a:sym typeface="Nunito Sans"/>
              </a:rPr>
              <a:t>Geknowme</a:t>
            </a:r>
            <a:r>
              <a:rPr b="0" i="0" lang="en-US" sz="1400" u="none" cap="none" strike="noStrike">
                <a:solidFill>
                  <a:srgbClr val="FFFFFF"/>
                </a:solidFill>
                <a:latin typeface="Nunito Sans"/>
                <a:ea typeface="Nunito Sans"/>
                <a:cs typeface="Nunito Sans"/>
                <a:sym typeface="Nunito Sans"/>
              </a:rPr>
              <a:t> works for the clinician and the patient: understanding the current trial landscape to help someone today. An unmet need.</a:t>
            </a:r>
            <a:endParaRPr b="0" i="0" sz="1400" u="none" cap="none" strike="noStrike">
              <a:solidFill>
                <a:schemeClr val="dk1"/>
              </a:solidFill>
              <a:latin typeface="Nunito Sans"/>
              <a:ea typeface="Nunito Sans"/>
              <a:cs typeface="Nunito Sans"/>
              <a:sym typeface="Nunito Sans"/>
            </a:endParaRPr>
          </a:p>
        </p:txBody>
      </p:sp>
      <p:sp>
        <p:nvSpPr>
          <p:cNvPr id="261" name="Google Shape;261;p15"/>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9</a:t>
            </a:r>
            <a:endParaRPr b="0" i="0" sz="1200" u="none" cap="none" strike="noStrike">
              <a:solidFill>
                <a:schemeClr val="dk1"/>
              </a:solidFill>
              <a:latin typeface="Nunito Sans"/>
              <a:ea typeface="Nunito Sans"/>
              <a:cs typeface="Nunito Sans"/>
              <a:sym typeface="Nunito Sans"/>
            </a:endParaRPr>
          </a:p>
        </p:txBody>
      </p:sp>
      <p:sp>
        <p:nvSpPr>
          <p:cNvPr id="2490" name="Google Shape;2490;p15"/>
          <p:cNvSpPr/>
          <p:nvPr/>
        </p:nvSpPr>
        <p:spPr>
          <a:xfrm>
            <a:off x="1016000" y="3985000"/>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400"/>
              <a:buFont typeface="Nunito Sans"/>
              <a:buNone/>
            </a:pPr>
            <a:r>
              <a:rPr b="0" i="0" lang="en-US" sz="1400" u="none" cap="none" strike="noStrike">
                <a:solidFill>
                  <a:srgbClr val="5B6670"/>
                </a:solidFill>
                <a:latin typeface="Nunito Sans"/>
                <a:ea typeface="Nunito Sans"/>
                <a:cs typeface="Nunito Sans"/>
                <a:sym typeface="Nunito Sans"/>
              </a:rPr>
              <a:t>OncoKB and CIViC: cancer-only and manually curated. Geknowme covers any variant, with live trial data.</a:t>
            </a:r>
            <a:endParaRPr b="0" i="0" sz="14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preencoded.png" id="287" name="Google Shape;287;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8" name="Google Shape;288;p17"/>
          <p:cNvSpPr/>
          <p:nvPr/>
        </p:nvSpPr>
        <p:spPr>
          <a:xfrm>
            <a:off x="508000" y="508000"/>
            <a:ext cx="11176000" cy="5842000"/>
          </a:xfrm>
          <a:prstGeom prst="roundRect">
            <a:avLst>
              <a:gd fmla="val 4348" name="adj"/>
            </a:avLst>
          </a:prstGeom>
          <a:solidFill>
            <a:srgbClr val="FFFFFF">
              <a:alpha val="85882"/>
            </a:srgbClr>
          </a:solidFill>
          <a:ln>
            <a:noFill/>
          </a:ln>
          <a:effectLst>
            <a:outerShdw blurRad="406400" rotWithShape="0" algn="bl" dir="5400000" dist="152400">
              <a:srgbClr val="1E2A35">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7"/>
          <p:cNvSpPr/>
          <p:nvPr/>
        </p:nvSpPr>
        <p:spPr>
          <a:xfrm>
            <a:off x="1016000" y="91440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STACK &amp; RESOURCES</a:t>
            </a:r>
            <a:endParaRPr b="0" i="0" sz="1200" u="none" cap="none" strike="noStrike">
              <a:solidFill>
                <a:schemeClr val="dk1"/>
              </a:solidFill>
              <a:latin typeface="Nunito Sans"/>
              <a:ea typeface="Nunito Sans"/>
              <a:cs typeface="Nunito Sans"/>
              <a:sym typeface="Nunito Sans"/>
            </a:endParaRPr>
          </a:p>
        </p:txBody>
      </p:sp>
      <p:sp>
        <p:nvSpPr>
          <p:cNvPr id="290" name="Google Shape;290;p17"/>
          <p:cNvSpPr txBox="1"/>
          <p:nvPr>
            <p:ph type="title"/>
          </p:nvPr>
        </p:nvSpPr>
        <p:spPr>
          <a:xfrm>
            <a:off x="1016000" y="1229320"/>
            <a:ext cx="10464800" cy="452090"/>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2F78B0"/>
              </a:buClr>
              <a:buSzPts val="3000"/>
              <a:buFont typeface="Nunito Sans"/>
              <a:buNone/>
            </a:pPr>
            <a:r>
              <a:rPr b="1" i="0" lang="en-US" sz="3000">
                <a:solidFill>
                  <a:srgbClr val="2F78B0"/>
                </a:solidFill>
                <a:latin typeface="Nunito Sans"/>
                <a:ea typeface="Nunito Sans"/>
                <a:cs typeface="Nunito Sans"/>
                <a:sym typeface="Nunito Sans"/>
              </a:rPr>
              <a:t>Open source</a:t>
            </a:r>
            <a:r>
              <a:rPr b="0" i="0" lang="en-US" sz="3000">
                <a:solidFill>
                  <a:srgbClr val="2F78B0"/>
                </a:solidFill>
                <a:latin typeface="Nunito Sans"/>
                <a:ea typeface="Nunito Sans"/>
                <a:cs typeface="Nunito Sans"/>
                <a:sym typeface="Nunito Sans"/>
              </a:rPr>
              <a:t>, built on public data</a:t>
            </a:r>
            <a:endParaRPr sz="3000"/>
          </a:p>
        </p:txBody>
      </p:sp>
      <p:sp>
        <p:nvSpPr>
          <p:cNvPr id="291" name="Google Shape;291;p17"/>
          <p:cNvSpPr/>
          <p:nvPr/>
        </p:nvSpPr>
        <p:spPr>
          <a:xfrm>
            <a:off x="1019175" y="1773486"/>
            <a:ext cx="5016500" cy="776536"/>
          </a:xfrm>
          <a:prstGeom prst="roundRect">
            <a:avLst>
              <a:gd fmla="val 12675"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1162050" y="1916361"/>
            <a:ext cx="487267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BACKEND</a:t>
            </a:r>
            <a:endParaRPr b="0" i="0" sz="1200" u="none" cap="none" strike="noStrike">
              <a:solidFill>
                <a:schemeClr val="dk1"/>
              </a:solidFill>
              <a:latin typeface="Nunito Sans"/>
              <a:ea typeface="Nunito Sans"/>
              <a:cs typeface="Nunito Sans"/>
              <a:sym typeface="Nunito Sans"/>
            </a:endParaRPr>
          </a:p>
        </p:txBody>
      </p:sp>
      <p:sp>
        <p:nvSpPr>
          <p:cNvPr id="293" name="Google Shape;293;p17"/>
          <p:cNvSpPr/>
          <p:nvPr/>
        </p:nvSpPr>
        <p:spPr>
          <a:xfrm>
            <a:off x="1162050" y="2167781"/>
            <a:ext cx="4872673" cy="26476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300"/>
              <a:buFont typeface="Nunito Sans"/>
              <a:buNone/>
            </a:pPr>
            <a:r>
              <a:rPr b="0" i="0" lang="en-US" sz="1300" u="none" cap="none" strike="noStrike">
                <a:solidFill>
                  <a:srgbClr val="1E2A35"/>
                </a:solidFill>
                <a:latin typeface="Nunito Sans"/>
                <a:ea typeface="Nunito Sans"/>
                <a:cs typeface="Nunito Sans"/>
                <a:sym typeface="Nunito Sans"/>
              </a:rPr>
              <a:t>Python, FastAPI, httpx, pydantic</a:t>
            </a:r>
            <a:endParaRPr b="0" i="0" sz="1300" u="none" cap="none" strike="noStrike">
              <a:solidFill>
                <a:schemeClr val="dk1"/>
              </a:solidFill>
              <a:latin typeface="Nunito Sans"/>
              <a:ea typeface="Nunito Sans"/>
              <a:cs typeface="Nunito Sans"/>
              <a:sym typeface="Nunito Sans"/>
            </a:endParaRPr>
          </a:p>
        </p:txBody>
      </p:sp>
      <p:sp>
        <p:nvSpPr>
          <p:cNvPr id="294" name="Google Shape;294;p17"/>
          <p:cNvSpPr/>
          <p:nvPr/>
        </p:nvSpPr>
        <p:spPr>
          <a:xfrm>
            <a:off x="6156325" y="1773486"/>
            <a:ext cx="5016500" cy="776536"/>
          </a:xfrm>
          <a:prstGeom prst="roundRect">
            <a:avLst>
              <a:gd fmla="val 12675"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7"/>
          <p:cNvSpPr/>
          <p:nvPr/>
        </p:nvSpPr>
        <p:spPr>
          <a:xfrm>
            <a:off x="6299200" y="1916361"/>
            <a:ext cx="487267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FRONTEND</a:t>
            </a:r>
            <a:endParaRPr b="0" i="0" sz="1200" u="none" cap="none" strike="noStrike">
              <a:solidFill>
                <a:schemeClr val="dk1"/>
              </a:solidFill>
              <a:latin typeface="Nunito Sans"/>
              <a:ea typeface="Nunito Sans"/>
              <a:cs typeface="Nunito Sans"/>
              <a:sym typeface="Nunito Sans"/>
            </a:endParaRPr>
          </a:p>
        </p:txBody>
      </p:sp>
      <p:sp>
        <p:nvSpPr>
          <p:cNvPr id="296" name="Google Shape;296;p17"/>
          <p:cNvSpPr/>
          <p:nvPr/>
        </p:nvSpPr>
        <p:spPr>
          <a:xfrm>
            <a:off x="6299200" y="2167781"/>
            <a:ext cx="4872673" cy="26476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300"/>
              <a:buFont typeface="Nunito Sans"/>
              <a:buNone/>
            </a:pPr>
            <a:r>
              <a:rPr b="0" i="0" lang="en-US" sz="1300" u="none" cap="none" strike="noStrike">
                <a:solidFill>
                  <a:srgbClr val="1E2A35"/>
                </a:solidFill>
                <a:latin typeface="Nunito Sans"/>
                <a:ea typeface="Nunito Sans"/>
                <a:cs typeface="Nunito Sans"/>
                <a:sym typeface="Nunito Sans"/>
              </a:rPr>
              <a:t>React, TypeScript, Tailwind CSS, Vite, Three.js</a:t>
            </a:r>
            <a:endParaRPr b="0" i="0" sz="1300" u="none" cap="none" strike="noStrike">
              <a:solidFill>
                <a:schemeClr val="dk1"/>
              </a:solidFill>
              <a:latin typeface="Nunito Sans"/>
              <a:ea typeface="Nunito Sans"/>
              <a:cs typeface="Nunito Sans"/>
              <a:sym typeface="Nunito Sans"/>
            </a:endParaRPr>
          </a:p>
        </p:txBody>
      </p:sp>
      <p:sp>
        <p:nvSpPr>
          <p:cNvPr id="297" name="Google Shape;297;p17"/>
          <p:cNvSpPr/>
          <p:nvPr/>
        </p:nvSpPr>
        <p:spPr>
          <a:xfrm>
            <a:off x="1019175" y="2670671"/>
            <a:ext cx="5016500" cy="776536"/>
          </a:xfrm>
          <a:prstGeom prst="roundRect">
            <a:avLst>
              <a:gd fmla="val 12675"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1162050" y="2813546"/>
            <a:ext cx="487267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AI</a:t>
            </a:r>
            <a:endParaRPr b="0" i="0" sz="1200" u="none" cap="none" strike="noStrike">
              <a:solidFill>
                <a:schemeClr val="dk1"/>
              </a:solidFill>
              <a:latin typeface="Nunito Sans"/>
              <a:ea typeface="Nunito Sans"/>
              <a:cs typeface="Nunito Sans"/>
              <a:sym typeface="Nunito Sans"/>
            </a:endParaRPr>
          </a:p>
        </p:txBody>
      </p:sp>
      <p:sp>
        <p:nvSpPr>
          <p:cNvPr id="299" name="Google Shape;299;p17"/>
          <p:cNvSpPr/>
          <p:nvPr/>
        </p:nvSpPr>
        <p:spPr>
          <a:xfrm>
            <a:off x="1162050" y="3064966"/>
            <a:ext cx="4872673" cy="26476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300"/>
              <a:buFont typeface="Nunito Sans"/>
              <a:buNone/>
            </a:pPr>
            <a:r>
              <a:rPr b="0" i="0" lang="en-US" sz="1300" u="none" cap="none" strike="noStrike">
                <a:solidFill>
                  <a:srgbClr val="1E2A35"/>
                </a:solidFill>
                <a:latin typeface="Nunito Sans"/>
                <a:ea typeface="Nunito Sans"/>
                <a:cs typeface="Nunito Sans"/>
                <a:sym typeface="Nunito Sans"/>
              </a:rPr>
              <a:t>Google Gemini 3.5 Flash, Flash-Lite as backup</a:t>
            </a:r>
            <a:endParaRPr b="0" i="0" sz="1300" u="none" cap="none" strike="noStrike">
              <a:solidFill>
                <a:schemeClr val="dk1"/>
              </a:solidFill>
              <a:latin typeface="Nunito Sans"/>
              <a:ea typeface="Nunito Sans"/>
              <a:cs typeface="Nunito Sans"/>
              <a:sym typeface="Nunito Sans"/>
            </a:endParaRPr>
          </a:p>
        </p:txBody>
      </p:sp>
      <p:sp>
        <p:nvSpPr>
          <p:cNvPr id="300" name="Google Shape;300;p17"/>
          <p:cNvSpPr/>
          <p:nvPr/>
        </p:nvSpPr>
        <p:spPr>
          <a:xfrm>
            <a:off x="6156325" y="2670671"/>
            <a:ext cx="5016500" cy="776536"/>
          </a:xfrm>
          <a:prstGeom prst="roundRect">
            <a:avLst>
              <a:gd fmla="val 12675"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
          <p:cNvSpPr/>
          <p:nvPr/>
        </p:nvSpPr>
        <p:spPr>
          <a:xfrm>
            <a:off x="6299200" y="2813546"/>
            <a:ext cx="487267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SHIPPING</a:t>
            </a:r>
            <a:endParaRPr b="0" i="0" sz="1200" u="none" cap="none" strike="noStrike">
              <a:solidFill>
                <a:schemeClr val="dk1"/>
              </a:solidFill>
              <a:latin typeface="Nunito Sans"/>
              <a:ea typeface="Nunito Sans"/>
              <a:cs typeface="Nunito Sans"/>
              <a:sym typeface="Nunito Sans"/>
            </a:endParaRPr>
          </a:p>
        </p:txBody>
      </p:sp>
      <p:sp>
        <p:nvSpPr>
          <p:cNvPr id="302" name="Google Shape;302;p17"/>
          <p:cNvSpPr/>
          <p:nvPr/>
        </p:nvSpPr>
        <p:spPr>
          <a:xfrm>
            <a:off x="6299200" y="3064966"/>
            <a:ext cx="4872673" cy="26476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300"/>
              <a:buFont typeface="Nunito Sans"/>
              <a:buNone/>
            </a:pPr>
            <a:r>
              <a:rPr b="0" i="0" lang="en-US" sz="1300" u="none" cap="none" strike="noStrike">
                <a:solidFill>
                  <a:srgbClr val="1E2A35"/>
                </a:solidFill>
                <a:latin typeface="Nunito Sans"/>
                <a:ea typeface="Nunito Sans"/>
                <a:cs typeface="Nunito Sans"/>
                <a:sym typeface="Nunito Sans"/>
              </a:rPr>
              <a:t>Render, pytest (180 tests), MIT license</a:t>
            </a:r>
            <a:endParaRPr b="0" i="0" sz="1300" u="none" cap="none" strike="noStrike">
              <a:solidFill>
                <a:schemeClr val="dk1"/>
              </a:solidFill>
              <a:latin typeface="Nunito Sans"/>
              <a:ea typeface="Nunito Sans"/>
              <a:cs typeface="Nunito Sans"/>
              <a:sym typeface="Nunito Sans"/>
            </a:endParaRPr>
          </a:p>
        </p:txBody>
      </p:sp>
      <p:sp>
        <p:nvSpPr>
          <p:cNvPr id="303" name="Google Shape;303;p17"/>
          <p:cNvSpPr/>
          <p:nvPr/>
        </p:nvSpPr>
        <p:spPr>
          <a:xfrm>
            <a:off x="1019175" y="3567857"/>
            <a:ext cx="10153650" cy="776536"/>
          </a:xfrm>
          <a:prstGeom prst="roundRect">
            <a:avLst>
              <a:gd fmla="val 12675"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7"/>
          <p:cNvSpPr/>
          <p:nvPr/>
        </p:nvSpPr>
        <p:spPr>
          <a:xfrm>
            <a:off x="1162050" y="3710732"/>
            <a:ext cx="1016393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DATA SOURCES</a:t>
            </a:r>
            <a:endParaRPr b="0" i="0" sz="1200" u="none" cap="none" strike="noStrike">
              <a:solidFill>
                <a:schemeClr val="dk1"/>
              </a:solidFill>
              <a:latin typeface="Nunito Sans"/>
              <a:ea typeface="Nunito Sans"/>
              <a:cs typeface="Nunito Sans"/>
              <a:sym typeface="Nunito Sans"/>
            </a:endParaRPr>
          </a:p>
        </p:txBody>
      </p:sp>
      <p:sp>
        <p:nvSpPr>
          <p:cNvPr id="305" name="Google Shape;305;p17"/>
          <p:cNvSpPr/>
          <p:nvPr/>
        </p:nvSpPr>
        <p:spPr>
          <a:xfrm>
            <a:off x="1162050" y="3962152"/>
            <a:ext cx="10163937" cy="26476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300"/>
              <a:buFont typeface="Nunito Sans"/>
              <a:buNone/>
            </a:pPr>
            <a:r>
              <a:rPr b="0" i="0" lang="en-US" sz="1300" u="none" cap="none" strike="noStrike">
                <a:solidFill>
                  <a:srgbClr val="1E2A35"/>
                </a:solidFill>
                <a:latin typeface="Nunito Sans"/>
                <a:ea typeface="Nunito Sans"/>
                <a:cs typeface="Nunito Sans"/>
                <a:sym typeface="Nunito Sans"/>
              </a:rPr>
              <a:t>MyVariant.info · ClinVar · NCBI LitVar2 · PubMed (E-utilities) · ClinicalTrials.gov API v2</a:t>
            </a:r>
            <a:endParaRPr b="0" i="0" sz="1300" u="none" cap="none" strike="noStrike">
              <a:solidFill>
                <a:schemeClr val="dk1"/>
              </a:solidFill>
              <a:latin typeface="Nunito Sans"/>
              <a:ea typeface="Nunito Sans"/>
              <a:cs typeface="Nunito Sans"/>
              <a:sym typeface="Nunito Sans"/>
            </a:endParaRPr>
          </a:p>
        </p:txBody>
      </p:sp>
      <p:sp>
        <p:nvSpPr>
          <p:cNvPr id="306" name="Google Shape;306;p17"/>
          <p:cNvSpPr/>
          <p:nvPr/>
        </p:nvSpPr>
        <p:spPr>
          <a:xfrm>
            <a:off x="1019175" y="4465042"/>
            <a:ext cx="10153650" cy="776536"/>
          </a:xfrm>
          <a:prstGeom prst="roundRect">
            <a:avLst>
              <a:gd fmla="val 12675" name="adj"/>
            </a:avLst>
          </a:prstGeom>
          <a:solidFill>
            <a:srgbClr val="FFFFFF"/>
          </a:solidFill>
          <a:ln cap="flat" cmpd="sng" w="9525">
            <a:solidFill>
              <a:srgbClr val="DDE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7"/>
          <p:cNvSpPr/>
          <p:nvPr/>
        </p:nvSpPr>
        <p:spPr>
          <a:xfrm>
            <a:off x="1162050" y="4607917"/>
            <a:ext cx="1016393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EVIDENCE STANDARDS</a:t>
            </a:r>
            <a:endParaRPr b="0" i="0" sz="1200" u="none" cap="none" strike="noStrike">
              <a:solidFill>
                <a:schemeClr val="dk1"/>
              </a:solidFill>
              <a:latin typeface="Nunito Sans"/>
              <a:ea typeface="Nunito Sans"/>
              <a:cs typeface="Nunito Sans"/>
              <a:sym typeface="Nunito Sans"/>
            </a:endParaRPr>
          </a:p>
        </p:txBody>
      </p:sp>
      <p:sp>
        <p:nvSpPr>
          <p:cNvPr id="308" name="Google Shape;308;p17"/>
          <p:cNvSpPr/>
          <p:nvPr/>
        </p:nvSpPr>
        <p:spPr>
          <a:xfrm>
            <a:off x="1162050" y="4859338"/>
            <a:ext cx="10163937" cy="26476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300"/>
              <a:buFont typeface="Nunito Sans"/>
              <a:buNone/>
            </a:pPr>
            <a:r>
              <a:rPr b="0" i="0" lang="en-US" sz="1300" u="none" cap="none" strike="noStrike">
                <a:solidFill>
                  <a:srgbClr val="1E2A35"/>
                </a:solidFill>
                <a:latin typeface="Nunito Sans"/>
                <a:ea typeface="Nunito Sans"/>
                <a:cs typeface="Nunito Sans"/>
                <a:sym typeface="Nunito Sans"/>
              </a:rPr>
              <a:t>Oxford CEBM 2011 Levels of Evidence · ESMO ESCAT (Mateo et al., Annals of Oncology 2018)</a:t>
            </a:r>
            <a:endParaRPr b="0" i="0" sz="1300" u="none" cap="none" strike="noStrike">
              <a:solidFill>
                <a:schemeClr val="dk1"/>
              </a:solidFill>
              <a:latin typeface="Nunito Sans"/>
              <a:ea typeface="Nunito Sans"/>
              <a:cs typeface="Nunito Sans"/>
              <a:sym typeface="Nunito Sans"/>
            </a:endParaRPr>
          </a:p>
        </p:txBody>
      </p:sp>
      <p:sp>
        <p:nvSpPr>
          <p:cNvPr id="309" name="Google Shape;309;p17"/>
          <p:cNvSpPr/>
          <p:nvPr/>
        </p:nvSpPr>
        <p:spPr>
          <a:xfrm>
            <a:off x="1524000" y="5400080"/>
            <a:ext cx="1046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858F"/>
              </a:buClr>
              <a:buSzPts val="1200"/>
              <a:buFont typeface="Nunito Sans"/>
              <a:buNone/>
            </a:pPr>
            <a:r>
              <a:rPr b="0" i="0" lang="en-US" sz="1200" u="none" cap="none" strike="noStrike">
                <a:solidFill>
                  <a:srgbClr val="7A858F"/>
                </a:solidFill>
                <a:latin typeface="Nunito Sans"/>
                <a:ea typeface="Nunito Sans"/>
                <a:cs typeface="Nunito Sans"/>
                <a:sym typeface="Nunito Sans"/>
              </a:rPr>
              <a:t>GeKnowMe · HackRU 2026 · 10</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preencoded.png" id="315" name="Google Shape;315;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6" name="Google Shape;316;p18"/>
          <p:cNvSpPr/>
          <p:nvPr/>
        </p:nvSpPr>
        <p:spPr>
          <a:xfrm>
            <a:off x="812800" y="2015530"/>
            <a:ext cx="70637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3867D"/>
              </a:buClr>
              <a:buSzPts val="1200"/>
              <a:buFont typeface="Nunito Sans"/>
              <a:buNone/>
            </a:pPr>
            <a:r>
              <a:rPr b="1" i="0" lang="en-US" spc="150" sz="1200" u="none" cap="none" strike="noStrike">
                <a:solidFill>
                  <a:srgbClr val="23867D"/>
                </a:solidFill>
                <a:latin typeface="Nunito Sans"/>
                <a:ea typeface="Nunito Sans"/>
                <a:cs typeface="Nunito Sans"/>
                <a:sym typeface="Nunito Sans"/>
              </a:rPr>
              <a:t>THANK YOU</a:t>
            </a:r>
            <a:endParaRPr b="0" i="0" sz="1200" u="none" cap="none" strike="noStrike">
              <a:solidFill>
                <a:schemeClr val="dk1"/>
              </a:solidFill>
              <a:latin typeface="Nunito Sans"/>
              <a:ea typeface="Nunito Sans"/>
              <a:cs typeface="Nunito Sans"/>
              <a:sym typeface="Nunito Sans"/>
            </a:endParaRPr>
          </a:p>
        </p:txBody>
      </p:sp>
      <p:sp>
        <p:nvSpPr>
          <p:cNvPr id="317" name="Google Shape;317;p18"/>
          <p:cNvSpPr txBox="1"/>
          <p:nvPr>
            <p:ph type="title"/>
          </p:nvPr>
        </p:nvSpPr>
        <p:spPr>
          <a:xfrm>
            <a:off x="812800" y="2453680"/>
            <a:ext cx="7063740" cy="683766"/>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2F78B0"/>
              </a:buClr>
              <a:buSzPts val="4800"/>
              <a:buFont typeface="Nunito Sans"/>
              <a:buNone/>
            </a:pPr>
            <a:r>
              <a:rPr b="1" i="0" lang="en-US" sz="4800">
                <a:solidFill>
                  <a:srgbClr val="2F78B0"/>
                </a:solidFill>
                <a:latin typeface="Nunito Sans"/>
                <a:ea typeface="Nunito Sans"/>
                <a:cs typeface="Nunito Sans"/>
                <a:sym typeface="Nunito Sans"/>
              </a:rPr>
              <a:t>GeKnowMe</a:t>
            </a:r>
            <a:endParaRPr sz="4800"/>
          </a:p>
        </p:txBody>
      </p:sp>
      <p:sp>
        <p:nvSpPr>
          <p:cNvPr id="318" name="Google Shape;318;p18"/>
          <p:cNvSpPr/>
          <p:nvPr/>
        </p:nvSpPr>
        <p:spPr>
          <a:xfrm>
            <a:off x="812800" y="3342680"/>
            <a:ext cx="7063740" cy="3200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B6670"/>
              </a:buClr>
              <a:buSzPts val="1600"/>
              <a:buFont typeface="Nunito Sans"/>
              <a:buNone/>
            </a:pPr>
            <a:r>
              <a:rPr b="0" i="0" lang="en-US" sz="1600" u="none" cap="none" strike="noStrike">
                <a:solidFill>
                  <a:srgbClr val="5B6670"/>
                </a:solidFill>
                <a:latin typeface="Nunito Sans"/>
                <a:ea typeface="Nunito Sans"/>
                <a:cs typeface="Nunito Sans"/>
                <a:sym typeface="Nunito Sans"/>
              </a:rPr>
              <a:t>Know what a variant means, and which trials are studying it.</a:t>
            </a:r>
            <a:endParaRPr b="0" i="0" sz="1600" u="none" cap="none" strike="noStrike">
              <a:solidFill>
                <a:schemeClr val="dk1"/>
              </a:solidFill>
              <a:latin typeface="Nunito Sans"/>
              <a:ea typeface="Nunito Sans"/>
              <a:cs typeface="Nunito Sans"/>
              <a:sym typeface="Nunito Sans"/>
            </a:endParaRPr>
          </a:p>
        </p:txBody>
      </p:sp>
      <p:sp>
        <p:nvSpPr>
          <p:cNvPr id="319" name="Google Shape;319;p18"/>
          <p:cNvSpPr/>
          <p:nvPr/>
        </p:nvSpPr>
        <p:spPr>
          <a:xfrm>
            <a:off x="812800" y="3863380"/>
            <a:ext cx="7063740" cy="5778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E2A35"/>
              </a:buClr>
              <a:buSzPts val="1500"/>
              <a:buFont typeface="Nunito Sans"/>
              <a:buNone/>
            </a:pPr>
            <a:r>
              <a:rPr b="1" i="0" lang="en-US" sz="1500" u="none" cap="none" strike="noStrike">
                <a:solidFill>
                  <a:srgbClr val="1E2A35"/>
                </a:solidFill>
                <a:latin typeface="Nunito Sans"/>
                <a:ea typeface="Nunito Sans"/>
                <a:cs typeface="Nunito Sans"/>
                <a:sym typeface="Nunito Sans"/>
              </a:rPr>
              <a:t>hackathon-26-ijj5.onrender.com</a:t>
            </a:r>
            <a:endParaRPr b="0" i="0" sz="1500" u="none" cap="none" strike="noStrike">
              <a:solidFill>
                <a:schemeClr val="dk1"/>
              </a:solidFill>
              <a:latin typeface="Nunito Sans"/>
              <a:ea typeface="Nunito Sans"/>
              <a:cs typeface="Nunito Sans"/>
              <a:sym typeface="Nunito Sans"/>
            </a:endParaRPr>
          </a:p>
          <a:p>
            <a:pPr indent="0" lvl="0" marL="0" marR="0" rtl="0" algn="l">
              <a:lnSpc>
                <a:spcPct val="145000"/>
              </a:lnSpc>
              <a:spcBef>
                <a:spcPts val="0"/>
              </a:spcBef>
              <a:spcAft>
                <a:spcPts val="0"/>
              </a:spcAft>
              <a:buClr>
                <a:srgbClr val="1E2A35"/>
              </a:buClr>
              <a:buSzPts val="1500"/>
              <a:buFont typeface="Nunito Sans"/>
              <a:buNone/>
            </a:pPr>
            <a:r>
              <a:rPr b="0" i="0" lang="en-US" sz="1500" u="none" cap="none" strike="noStrike">
                <a:solidFill>
                  <a:srgbClr val="1E2A35"/>
                </a:solidFill>
                <a:latin typeface="Nunito Sans"/>
                <a:ea typeface="Nunito Sans"/>
                <a:cs typeface="Nunito Sans"/>
                <a:sym typeface="Nunito Sans"/>
              </a:rPr>
              <a:t>github.com/Sousa-16/hackathon-26</a:t>
            </a:r>
            <a:endParaRPr b="0" i="0" sz="1500" u="none" cap="none" strike="noStrike">
              <a:solidFill>
                <a:schemeClr val="dk1"/>
              </a:solidFill>
              <a:latin typeface="Nunito Sans"/>
              <a:ea typeface="Nunito Sans"/>
              <a:cs typeface="Nunito Sans"/>
              <a:sym typeface="Nuni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Geknowme: HackRU 2026">
  <a:themeElements>
    <a:clrScheme name="Geknowme: HackRU 2026">
      <a:dk1>
        <a:srgbClr val="141413"/>
      </a:dk1>
      <a:lt1>
        <a:srgbClr val="FFFFFF"/>
      </a:lt1>
      <a:dk2>
        <a:srgbClr val="4F4F4E"/>
      </a:dk2>
      <a:lt2>
        <a:srgbClr val="E8E8E7"/>
      </a:lt2>
      <a:accent1>
        <a:srgbClr val="23867D"/>
      </a:accent1>
      <a:accent2>
        <a:srgbClr val="2F78B0"/>
      </a:accent2>
      <a:accent3>
        <a:srgbClr val="1D6E67"/>
      </a:accent3>
      <a:accent4>
        <a:srgbClr val="FFE2A8"/>
      </a:accent4>
      <a:accent5>
        <a:srgbClr val="5B6670"/>
      </a:accent5>
      <a:accent6>
        <a:srgbClr val="1E2A3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knowme: HackRU 2026">
  <a:themeElements>
    <a:clrScheme name="Geknowme: HackRU 2026">
      <a:dk1>
        <a:srgbClr val="141413"/>
      </a:dk1>
      <a:lt1>
        <a:srgbClr val="FFFFFF"/>
      </a:lt1>
      <a:dk2>
        <a:srgbClr val="4F4F4E"/>
      </a:dk2>
      <a:lt2>
        <a:srgbClr val="E8E8E7"/>
      </a:lt2>
      <a:accent1>
        <a:srgbClr val="23867D"/>
      </a:accent1>
      <a:accent2>
        <a:srgbClr val="2F78B0"/>
      </a:accent2>
      <a:accent3>
        <a:srgbClr val="1D6E67"/>
      </a:accent3>
      <a:accent4>
        <a:srgbClr val="FFE2A8"/>
      </a:accent4>
      <a:accent5>
        <a:srgbClr val="5B6670"/>
      </a:accent5>
      <a:accent6>
        <a:srgbClr val="1E2A3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